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4"/>
  </p:notesMasterIdLst>
  <p:sldIdLst>
    <p:sldId id="413" r:id="rId2"/>
    <p:sldId id="434" r:id="rId3"/>
    <p:sldId id="439" r:id="rId4"/>
    <p:sldId id="437" r:id="rId5"/>
    <p:sldId id="435" r:id="rId6"/>
    <p:sldId id="436" r:id="rId7"/>
    <p:sldId id="438" r:id="rId8"/>
    <p:sldId id="427" r:id="rId9"/>
    <p:sldId id="403" r:id="rId10"/>
    <p:sldId id="353" r:id="rId11"/>
    <p:sldId id="433" r:id="rId12"/>
    <p:sldId id="432" r:id="rId13"/>
  </p:sldIdLst>
  <p:sldSz cx="12192000" cy="6858000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A8F5DF1-95AD-4CBD-9685-42582CCA7D85}">
          <p14:sldIdLst>
            <p14:sldId id="413"/>
            <p14:sldId id="434"/>
            <p14:sldId id="439"/>
            <p14:sldId id="437"/>
            <p14:sldId id="435"/>
            <p14:sldId id="436"/>
            <p14:sldId id="438"/>
            <p14:sldId id="427"/>
            <p14:sldId id="403"/>
            <p14:sldId id="353"/>
            <p14:sldId id="433"/>
            <p14:sldId id="4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83C3"/>
    <a:srgbClr val="337E9F"/>
    <a:srgbClr val="7F4971"/>
    <a:srgbClr val="9D5B8B"/>
    <a:srgbClr val="3296C8"/>
    <a:srgbClr val="96D9C1"/>
    <a:srgbClr val="F9CA31"/>
    <a:srgbClr val="50BEC1"/>
    <a:srgbClr val="C6A5C8"/>
    <a:srgbClr val="2D50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-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E3FDE45-AF77-4B5C-9715-49D594BDF05E}" styleName="Светлый стиль 1 -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Светлый стиль 1 -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Средний стиль 1 -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9" autoAdjust="0"/>
    <p:restoredTop sz="99645" autoAdjust="0"/>
  </p:normalViewPr>
  <p:slideViewPr>
    <p:cSldViewPr snapToGrid="0">
      <p:cViewPr varScale="1">
        <p:scale>
          <a:sx n="115" d="100"/>
          <a:sy n="115" d="100"/>
        </p:scale>
        <p:origin x="74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5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-3750" y="-84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F82699-AFE6-4A70-B0D4-D3F420FA181F}" type="doc">
      <dgm:prSet loTypeId="urn:microsoft.com/office/officeart/2005/8/layout/hierarchy2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018D79A-6B10-43FC-84EF-0168E0FE8760}">
      <dgm:prSet phldrT="[Текст]" custT="1"/>
      <dgm:spPr>
        <a:solidFill>
          <a:schemeClr val="accent6">
            <a:lumMod val="50000"/>
          </a:schemeClr>
        </a:solidFill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Қурилиш ишлар хажми</a:t>
          </a:r>
          <a:endParaRPr lang="ru-RU" sz="2000" dirty="0"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777A9DDF-0D80-4F59-9BDC-6E5397A9B915}" type="parTrans" cxnId="{D5A0283C-9F14-4588-A365-D715FF4E53C0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37A1B036-5785-47A1-BB70-12C3C6E0874C}" type="sibTrans" cxnId="{D5A0283C-9F14-4588-A365-D715FF4E53C0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FB0457FA-1012-436A-AF55-29DA6876583B}">
      <dgm:prSet phldrT="[Текст]" custT="1"/>
      <dgm:spPr>
        <a:solidFill>
          <a:schemeClr val="accent1">
            <a:lumMod val="75000"/>
          </a:schemeClr>
        </a:solidFill>
        <a:ln>
          <a:solidFill>
            <a:schemeClr val="accent1">
              <a:lumMod val="75000"/>
            </a:schemeClr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28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Юридик </a:t>
          </a:r>
          <a:br>
            <a:rPr lang="uz-Cyrl-UZ" sz="28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28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шахслар</a:t>
          </a:r>
          <a:endParaRPr lang="ru-RU" sz="2800" u="sng" dirty="0"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9B4F5318-74F2-4FAA-9F7F-F56A523B588A}" type="parTrans" cxnId="{0745C29D-9913-44F5-87CD-6C27B9DBAFE7}">
      <dgm:prSet/>
      <dgm:spPr>
        <a:ln w="28575">
          <a:solidFill>
            <a:schemeClr val="accent1">
              <a:lumMod val="75000"/>
            </a:schemeClr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58EA836D-2072-41CD-B6F6-EC4D11E45BFF}" type="sibTrans" cxnId="{0745C29D-9913-44F5-87CD-6C27B9DBAFE7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9561CD54-CD1B-4346-A26E-A1BFB5806FAC}">
      <dgm:prSet phldrT="[Текст]" custT="1"/>
      <dgm:spPr>
        <a:solidFill>
          <a:schemeClr val="accent1">
            <a:lumMod val="75000"/>
          </a:schemeClr>
        </a:solidFill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lnSpc>
              <a:spcPct val="90000"/>
            </a:lnSpc>
            <a:spcAft>
              <a:spcPts val="0"/>
            </a:spcAft>
          </a:pPr>
          <a:r>
            <a:rPr lang="uz-Cyrl-UZ" sz="1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Йирик корхона ва ташкилотлар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uz-Cyrl-UZ" sz="1400" b="1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(сони 410 та, шундан, 205 таси бошқа соҳа)</a:t>
          </a:r>
          <a:r>
            <a:rPr lang="uz-Cyrl-UZ" sz="1400" b="1" i="1" dirty="0" smtClean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endParaRPr lang="ru-RU" sz="1400" b="1" i="1" dirty="0">
            <a:solidFill>
              <a:schemeClr val="bg2">
                <a:lumMod val="9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38F3A1EA-02AB-499C-A2C9-94B0CDEEBAD7}" type="parTrans" cxnId="{E3CDC39E-B363-4349-9B26-D0A2374BB6AF}">
      <dgm:prSet/>
      <dgm:spPr>
        <a:ln w="19050">
          <a:solidFill>
            <a:schemeClr val="accent1">
              <a:lumMod val="75000"/>
            </a:schemeClr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BADF9693-93BD-49EC-A63B-FD46CA30FBC6}" type="sibTrans" cxnId="{E3CDC39E-B363-4349-9B26-D0A2374BB6AF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23E9346B-C064-4E37-9E7B-DF99C8CE8264}">
      <dgm:prSet phldrT="[Текст]" custT="1"/>
      <dgm:spPr>
        <a:solidFill>
          <a:schemeClr val="accent2"/>
        </a:solidFill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28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Жисмоний шахслар</a:t>
          </a:r>
          <a:endParaRPr lang="ru-RU" sz="2800" u="sng" dirty="0"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F1082CC7-16B0-49C2-82B7-EA0148FA34F1}" type="parTrans" cxnId="{FA81D7FF-9D96-4B74-AB44-AEDB8F593CFC}">
      <dgm:prSet/>
      <dgm:spPr>
        <a:ln w="28575">
          <a:solidFill>
            <a:schemeClr val="accent1">
              <a:lumMod val="75000"/>
            </a:schemeClr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D35257FB-20B4-4F31-8062-FA6682BF7203}" type="sibTrans" cxnId="{FA81D7FF-9D96-4B74-AB44-AEDB8F593CFC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EE4488F1-754F-49F2-8E77-860CB36679F2}">
      <dgm:prSet phldrT="[Текст]" custT="1"/>
      <dgm:spPr>
        <a:solidFill>
          <a:schemeClr val="accent2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spcAft>
              <a:spcPts val="0"/>
            </a:spcAft>
          </a:pPr>
          <a: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Якка тартибдаги турар жой обеъктлари</a:t>
          </a:r>
          <a:b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r>
            <a:rPr lang="uz-Cyrl-UZ" sz="1600" b="1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(хар чоракда 14 та ҳудудий кадастр органлари)</a:t>
          </a:r>
          <a:r>
            <a:rPr lang="uz-Cyrl-UZ" sz="1600" b="1" i="1" dirty="0" smtClean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endParaRPr lang="ru-RU" sz="1600" i="1" dirty="0">
            <a:solidFill>
              <a:schemeClr val="bg2">
                <a:lumMod val="90000"/>
              </a:schemeClr>
            </a:solidFill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5036D244-7B88-4AE4-8AC6-8E4453E97422}" type="parTrans" cxnId="{0B1E5D13-62A3-4546-979F-E6D131537095}">
      <dgm:prSet/>
      <dgm:spPr>
        <a:ln w="19050">
          <a:solidFill>
            <a:schemeClr val="accent1">
              <a:lumMod val="75000"/>
            </a:schemeClr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A0D59E2F-1822-4C75-8078-CE842524682F}" type="sibTrans" cxnId="{0B1E5D13-62A3-4546-979F-E6D131537095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E9BF069E-A649-4E9F-B21C-409BF6E4886D}">
      <dgm:prSet custT="1"/>
      <dgm:spPr>
        <a:solidFill>
          <a:schemeClr val="accent1">
            <a:lumMod val="75000"/>
          </a:schemeClr>
        </a:solidFill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Кичик корхона ва микрофирмалар</a:t>
          </a:r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/>
          </a:r>
          <a:b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r>
            <a:rPr lang="uz-Cyrl-UZ" sz="1400" b="1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(йиллик - сони 27 408 та, </a:t>
          </a:r>
          <a:br>
            <a:rPr lang="uz-Cyrl-UZ" sz="1400" b="1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400" b="1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чораклик – 16 950 та,</a:t>
          </a:r>
        </a:p>
        <a:p>
          <a:r>
            <a:rPr lang="uz-Cyrl-UZ" sz="1400" b="1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ойлик 3233 та)</a:t>
          </a:r>
          <a:endParaRPr lang="ru-RU" sz="1400" i="1" dirty="0">
            <a:solidFill>
              <a:schemeClr val="bg1"/>
            </a:solidFill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9E6B82F5-1A9C-406E-83A9-6ABC25764732}" type="parTrans" cxnId="{055A5E39-0884-41E2-AD3F-CEAEB548A59B}">
      <dgm:prSet/>
      <dgm:spPr>
        <a:ln w="19050">
          <a:solidFill>
            <a:schemeClr val="accent1">
              <a:lumMod val="75000"/>
            </a:schemeClr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7A60BCB4-C6E7-4FE5-A1E7-8B20F9F2A208}" type="sibTrans" cxnId="{055A5E39-0884-41E2-AD3F-CEAEB548A59B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3BCE53E4-4C87-4CC0-9B01-241E27ED37EF}">
      <dgm:prSet custT="1"/>
      <dgm:spPr>
        <a:solidFill>
          <a:schemeClr val="accent2"/>
        </a:solidFill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Якка тартибдаги квартираларни таъмирлаш </a:t>
          </a:r>
          <a:b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600" b="1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(хар ойда)</a:t>
          </a:r>
          <a:endParaRPr lang="ru-RU" sz="1600" b="1" i="1" dirty="0" smtClean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6830E4D8-55A8-4991-A4DC-DF8F186B310F}" type="parTrans" cxnId="{AF4AF68A-3A0B-4649-8AB4-34BB3C519EA8}">
      <dgm:prSet/>
      <dgm:spPr>
        <a:ln w="19050">
          <a:solidFill>
            <a:schemeClr val="accent1">
              <a:lumMod val="75000"/>
            </a:schemeClr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4ACE1BEE-FC86-44C1-BB9A-D056C80B4B8F}" type="sibTrans" cxnId="{AF4AF68A-3A0B-4649-8AB4-34BB3C519EA8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A2824B06-479E-4A20-AD07-153A7AC5E67D}">
      <dgm:prSet phldrT="[Текст]" custT="1"/>
      <dgm:spPr>
        <a:solidFill>
          <a:schemeClr val="accent2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Якка тартибдаги нотурар жой объектлари</a:t>
          </a:r>
          <a:b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r>
            <a:rPr lang="uz-Cyrl-UZ" sz="1600" b="1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(хар чоракда 14 та ҳудудий кадастр органлари)</a:t>
          </a:r>
          <a:r>
            <a:rPr lang="uz-Cyrl-UZ" sz="1600" b="1" i="1" dirty="0" smtClean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endParaRPr lang="ru-RU" sz="1600" i="1" dirty="0">
            <a:solidFill>
              <a:schemeClr val="bg2">
                <a:lumMod val="90000"/>
              </a:schemeClr>
            </a:solidFill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81145901-E790-4DAF-B330-33CACD16CE69}" type="parTrans" cxnId="{6134E8A9-7B5B-42D9-A867-3E8D8C33EBDF}">
      <dgm:prSet/>
      <dgm:spPr/>
      <dgm:t>
        <a:bodyPr/>
        <a:lstStyle/>
        <a:p>
          <a:endParaRPr lang="ru-RU"/>
        </a:p>
      </dgm:t>
    </dgm:pt>
    <dgm:pt modelId="{1731A59F-0403-494B-9EC7-B035973D0FF0}" type="sibTrans" cxnId="{6134E8A9-7B5B-42D9-A867-3E8D8C33EBDF}">
      <dgm:prSet/>
      <dgm:spPr/>
      <dgm:t>
        <a:bodyPr/>
        <a:lstStyle/>
        <a:p>
          <a:endParaRPr lang="ru-RU"/>
        </a:p>
      </dgm:t>
    </dgm:pt>
    <dgm:pt modelId="{C674BC99-20ED-440D-8640-26608BDD4FAA}" type="pres">
      <dgm:prSet presAssocID="{8CF82699-AFE6-4A70-B0D4-D3F420FA181F}" presName="diagram" presStyleCnt="0">
        <dgm:presLayoutVars>
          <dgm:chPref val="1"/>
          <dgm:dir val="rev"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D1B8A5E-404D-4A6A-AB37-8B063761F145}" type="pres">
      <dgm:prSet presAssocID="{9018D79A-6B10-43FC-84EF-0168E0FE8760}" presName="root1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F519B767-3174-49D5-AD3F-232723D9C07D}" type="pres">
      <dgm:prSet presAssocID="{9018D79A-6B10-43FC-84EF-0168E0FE8760}" presName="LevelOneTextNode" presStyleLbl="node0" presStyleIdx="0" presStyleCnt="1" custScaleX="135863" custScaleY="140536" custLinFactNeighborX="812" custLinFactNeighborY="1242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752BAB5-715A-45A4-B2F2-698F97608E4D}" type="pres">
      <dgm:prSet presAssocID="{9018D79A-6B10-43FC-84EF-0168E0FE8760}" presName="level2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74A23BED-DD60-47D3-BDE2-280718208519}" type="pres">
      <dgm:prSet presAssocID="{9B4F5318-74F2-4FAA-9F7F-F56A523B588A}" presName="conn2-1" presStyleLbl="parChTrans1D2" presStyleIdx="0" presStyleCnt="2"/>
      <dgm:spPr/>
      <dgm:t>
        <a:bodyPr/>
        <a:lstStyle/>
        <a:p>
          <a:endParaRPr lang="ru-RU"/>
        </a:p>
      </dgm:t>
    </dgm:pt>
    <dgm:pt modelId="{249CA538-4EF6-4B69-B5E1-10F3FF6E38E1}" type="pres">
      <dgm:prSet presAssocID="{9B4F5318-74F2-4FAA-9F7F-F56A523B588A}" presName="connTx" presStyleLbl="parChTrans1D2" presStyleIdx="0" presStyleCnt="2"/>
      <dgm:spPr/>
      <dgm:t>
        <a:bodyPr/>
        <a:lstStyle/>
        <a:p>
          <a:endParaRPr lang="ru-RU"/>
        </a:p>
      </dgm:t>
    </dgm:pt>
    <dgm:pt modelId="{B6D3365E-4092-4E4A-B4CF-BB97E3F43B31}" type="pres">
      <dgm:prSet presAssocID="{FB0457FA-1012-436A-AF55-29DA6876583B}" presName="root2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C1BFACC0-1943-4345-ACF8-E5CF97506A40}" type="pres">
      <dgm:prSet presAssocID="{FB0457FA-1012-436A-AF55-29DA6876583B}" presName="LevelTwoTextNode" presStyleLbl="node2" presStyleIdx="0" presStyleCnt="2" custScaleX="158577" custScaleY="157802" custLinFactNeighborX="17111" custLinFactNeighborY="866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94B08AE-5325-491B-A50B-19978DE05E43}" type="pres">
      <dgm:prSet presAssocID="{FB0457FA-1012-436A-AF55-29DA6876583B}" presName="level3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DF46E499-5BF7-4F2E-89CC-32114810A302}" type="pres">
      <dgm:prSet presAssocID="{38F3A1EA-02AB-499C-A2C9-94B0CDEEBAD7}" presName="conn2-1" presStyleLbl="parChTrans1D3" presStyleIdx="0" presStyleCnt="5"/>
      <dgm:spPr/>
      <dgm:t>
        <a:bodyPr/>
        <a:lstStyle/>
        <a:p>
          <a:endParaRPr lang="ru-RU"/>
        </a:p>
      </dgm:t>
    </dgm:pt>
    <dgm:pt modelId="{555DB24D-944F-4726-9C52-64113BF731B0}" type="pres">
      <dgm:prSet presAssocID="{38F3A1EA-02AB-499C-A2C9-94B0CDEEBAD7}" presName="connTx" presStyleLbl="parChTrans1D3" presStyleIdx="0" presStyleCnt="5"/>
      <dgm:spPr/>
      <dgm:t>
        <a:bodyPr/>
        <a:lstStyle/>
        <a:p>
          <a:endParaRPr lang="ru-RU"/>
        </a:p>
      </dgm:t>
    </dgm:pt>
    <dgm:pt modelId="{1C14AAB6-80E8-40DE-A990-C2CD17FC31C7}" type="pres">
      <dgm:prSet presAssocID="{9561CD54-CD1B-4346-A26E-A1BFB5806FAC}" presName="root2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4A1C3500-42C2-494E-B36D-A37AD5A45DAF}" type="pres">
      <dgm:prSet presAssocID="{9561CD54-CD1B-4346-A26E-A1BFB5806FAC}" presName="LevelTwoTextNode" presStyleLbl="node3" presStyleIdx="0" presStyleCnt="5" custScaleX="289660" custLinFactNeighborX="-45036" custLinFactNeighborY="952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640041B-F201-4AD4-BA7E-FAA3279B4CDA}" type="pres">
      <dgm:prSet presAssocID="{9561CD54-CD1B-4346-A26E-A1BFB5806FAC}" presName="level3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0A36825E-3E88-447D-8890-47D6E502D53E}" type="pres">
      <dgm:prSet presAssocID="{9E6B82F5-1A9C-406E-83A9-6ABC25764732}" presName="conn2-1" presStyleLbl="parChTrans1D3" presStyleIdx="1" presStyleCnt="5"/>
      <dgm:spPr/>
      <dgm:t>
        <a:bodyPr/>
        <a:lstStyle/>
        <a:p>
          <a:endParaRPr lang="ru-RU"/>
        </a:p>
      </dgm:t>
    </dgm:pt>
    <dgm:pt modelId="{9F1F03B1-A293-40A0-87F1-A9C3F49B3AD7}" type="pres">
      <dgm:prSet presAssocID="{9E6B82F5-1A9C-406E-83A9-6ABC25764732}" presName="connTx" presStyleLbl="parChTrans1D3" presStyleIdx="1" presStyleCnt="5"/>
      <dgm:spPr/>
      <dgm:t>
        <a:bodyPr/>
        <a:lstStyle/>
        <a:p>
          <a:endParaRPr lang="ru-RU"/>
        </a:p>
      </dgm:t>
    </dgm:pt>
    <dgm:pt modelId="{DD78AC38-5FB6-4B75-BF24-F82F92446AB3}" type="pres">
      <dgm:prSet presAssocID="{E9BF069E-A649-4E9F-B21C-409BF6E4886D}" presName="root2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CC21F0E7-688F-433A-AAD0-8468438F05AF}" type="pres">
      <dgm:prSet presAssocID="{E9BF069E-A649-4E9F-B21C-409BF6E4886D}" presName="LevelTwoTextNode" presStyleLbl="node3" presStyleIdx="1" presStyleCnt="5" custScaleX="288618" custLinFactNeighborX="-29796" custLinFactNeighborY="292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0A7E3C1-C648-49FF-B73D-A03B5DAB1B3C}" type="pres">
      <dgm:prSet presAssocID="{E9BF069E-A649-4E9F-B21C-409BF6E4886D}" presName="level3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9AA11308-0D10-4B85-8D82-CDA53E3C3FD6}" type="pres">
      <dgm:prSet presAssocID="{F1082CC7-16B0-49C2-82B7-EA0148FA34F1}" presName="conn2-1" presStyleLbl="parChTrans1D2" presStyleIdx="1" presStyleCnt="2"/>
      <dgm:spPr/>
      <dgm:t>
        <a:bodyPr/>
        <a:lstStyle/>
        <a:p>
          <a:endParaRPr lang="ru-RU"/>
        </a:p>
      </dgm:t>
    </dgm:pt>
    <dgm:pt modelId="{7C0F3913-7768-4BE0-8A28-6B54339EEE85}" type="pres">
      <dgm:prSet presAssocID="{F1082CC7-16B0-49C2-82B7-EA0148FA34F1}" presName="connTx" presStyleLbl="parChTrans1D2" presStyleIdx="1" presStyleCnt="2"/>
      <dgm:spPr/>
      <dgm:t>
        <a:bodyPr/>
        <a:lstStyle/>
        <a:p>
          <a:endParaRPr lang="ru-RU"/>
        </a:p>
      </dgm:t>
    </dgm:pt>
    <dgm:pt modelId="{C97D3026-FFED-4A23-9069-381661E9B715}" type="pres">
      <dgm:prSet presAssocID="{23E9346B-C064-4E37-9E7B-DF99C8CE8264}" presName="root2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31B81D4C-E68F-4C1F-BF69-649BADD4ACD5}" type="pres">
      <dgm:prSet presAssocID="{23E9346B-C064-4E37-9E7B-DF99C8CE8264}" presName="LevelTwoTextNode" presStyleLbl="node2" presStyleIdx="1" presStyleCnt="2" custScaleX="153897" custScaleY="122993" custLinFactNeighborX="17392" custLinFactNeighborY="402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893D399-38E2-45BF-9B3A-5A9DC23EA5C1}" type="pres">
      <dgm:prSet presAssocID="{23E9346B-C064-4E37-9E7B-DF99C8CE8264}" presName="level3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677A13DF-4EE3-49F6-85AF-D1B5946BB7CF}" type="pres">
      <dgm:prSet presAssocID="{5036D244-7B88-4AE4-8AC6-8E4453E97422}" presName="conn2-1" presStyleLbl="parChTrans1D3" presStyleIdx="2" presStyleCnt="5"/>
      <dgm:spPr/>
      <dgm:t>
        <a:bodyPr/>
        <a:lstStyle/>
        <a:p>
          <a:endParaRPr lang="ru-RU"/>
        </a:p>
      </dgm:t>
    </dgm:pt>
    <dgm:pt modelId="{F89BB5A9-85AC-4017-89DE-B5F736C2CEF1}" type="pres">
      <dgm:prSet presAssocID="{5036D244-7B88-4AE4-8AC6-8E4453E97422}" presName="connTx" presStyleLbl="parChTrans1D3" presStyleIdx="2" presStyleCnt="5"/>
      <dgm:spPr/>
      <dgm:t>
        <a:bodyPr/>
        <a:lstStyle/>
        <a:p>
          <a:endParaRPr lang="ru-RU"/>
        </a:p>
      </dgm:t>
    </dgm:pt>
    <dgm:pt modelId="{13FEF0C6-5B9F-44C2-B382-DCCD051D6F71}" type="pres">
      <dgm:prSet presAssocID="{EE4488F1-754F-49F2-8E77-860CB36679F2}" presName="root2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D98DD52D-C396-4FF8-BB2D-B16DE37D851F}" type="pres">
      <dgm:prSet presAssocID="{EE4488F1-754F-49F2-8E77-860CB36679F2}" presName="LevelTwoTextNode" presStyleLbl="node3" presStyleIdx="2" presStyleCnt="5" custScaleX="288746" custLinFactNeighborX="-25264" custLinFactNeighborY="20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568C04B-E47D-49C6-831A-7E5A4DA665EF}" type="pres">
      <dgm:prSet presAssocID="{EE4488F1-754F-49F2-8E77-860CB36679F2}" presName="level3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8833B2E9-2B47-4557-A585-A2C4DD132319}" type="pres">
      <dgm:prSet presAssocID="{81145901-E790-4DAF-B330-33CACD16CE69}" presName="conn2-1" presStyleLbl="parChTrans1D3" presStyleIdx="3" presStyleCnt="5"/>
      <dgm:spPr/>
      <dgm:t>
        <a:bodyPr/>
        <a:lstStyle/>
        <a:p>
          <a:endParaRPr lang="ru-RU"/>
        </a:p>
      </dgm:t>
    </dgm:pt>
    <dgm:pt modelId="{2D92A44C-CD35-4155-BC9B-FA7CE48AFDD4}" type="pres">
      <dgm:prSet presAssocID="{81145901-E790-4DAF-B330-33CACD16CE69}" presName="connTx" presStyleLbl="parChTrans1D3" presStyleIdx="3" presStyleCnt="5"/>
      <dgm:spPr/>
      <dgm:t>
        <a:bodyPr/>
        <a:lstStyle/>
        <a:p>
          <a:endParaRPr lang="ru-RU"/>
        </a:p>
      </dgm:t>
    </dgm:pt>
    <dgm:pt modelId="{731B1DF6-4811-4308-8BB8-611673503557}" type="pres">
      <dgm:prSet presAssocID="{A2824B06-479E-4A20-AD07-153A7AC5E67D}" presName="root2" presStyleCnt="0"/>
      <dgm:spPr/>
    </dgm:pt>
    <dgm:pt modelId="{8D39A59E-007C-439C-AC63-DA4E96C4CBBD}" type="pres">
      <dgm:prSet presAssocID="{A2824B06-479E-4A20-AD07-153A7AC5E67D}" presName="LevelTwoTextNode" presStyleLbl="node3" presStyleIdx="3" presStyleCnt="5" custScaleX="288746" custLinFactNeighborX="-25264" custLinFactNeighborY="20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5BE7AD4-1430-4F8F-BA80-B279D601B61E}" type="pres">
      <dgm:prSet presAssocID="{A2824B06-479E-4A20-AD07-153A7AC5E67D}" presName="level3hierChild" presStyleCnt="0"/>
      <dgm:spPr/>
    </dgm:pt>
    <dgm:pt modelId="{26707DD9-72C4-4585-B0F9-DC79A59BA22A}" type="pres">
      <dgm:prSet presAssocID="{6830E4D8-55A8-4991-A4DC-DF8F186B310F}" presName="conn2-1" presStyleLbl="parChTrans1D3" presStyleIdx="4" presStyleCnt="5"/>
      <dgm:spPr/>
      <dgm:t>
        <a:bodyPr/>
        <a:lstStyle/>
        <a:p>
          <a:endParaRPr lang="ru-RU"/>
        </a:p>
      </dgm:t>
    </dgm:pt>
    <dgm:pt modelId="{D0D53DFD-28C1-493A-8C22-51A37324B558}" type="pres">
      <dgm:prSet presAssocID="{6830E4D8-55A8-4991-A4DC-DF8F186B310F}" presName="connTx" presStyleLbl="parChTrans1D3" presStyleIdx="4" presStyleCnt="5"/>
      <dgm:spPr/>
      <dgm:t>
        <a:bodyPr/>
        <a:lstStyle/>
        <a:p>
          <a:endParaRPr lang="ru-RU"/>
        </a:p>
      </dgm:t>
    </dgm:pt>
    <dgm:pt modelId="{917CC23D-B444-428F-A323-F519E44BA8D7}" type="pres">
      <dgm:prSet presAssocID="{3BCE53E4-4C87-4CC0-9B01-241E27ED37EF}" presName="root2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6706D457-0A9D-4508-AFA6-11321699BE2B}" type="pres">
      <dgm:prSet presAssocID="{3BCE53E4-4C87-4CC0-9B01-241E27ED37EF}" presName="LevelTwoTextNode" presStyleLbl="node3" presStyleIdx="4" presStyleCnt="5" custScaleX="288845" custLinFactNeighborX="-25165" custLinFactNeighborY="-338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4A7D7C8-1CC9-439F-8F3E-FA4E67C88916}" type="pres">
      <dgm:prSet presAssocID="{3BCE53E4-4C87-4CC0-9B01-241E27ED37EF}" presName="level3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</dgm:ptLst>
  <dgm:cxnLst>
    <dgm:cxn modelId="{61869AA6-A05B-4C0C-A8A4-D126ADAC338C}" type="presOf" srcId="{5036D244-7B88-4AE4-8AC6-8E4453E97422}" destId="{F89BB5A9-85AC-4017-89DE-B5F736C2CEF1}" srcOrd="1" destOrd="0" presId="urn:microsoft.com/office/officeart/2005/8/layout/hierarchy2"/>
    <dgm:cxn modelId="{0745C29D-9913-44F5-87CD-6C27B9DBAFE7}" srcId="{9018D79A-6B10-43FC-84EF-0168E0FE8760}" destId="{FB0457FA-1012-436A-AF55-29DA6876583B}" srcOrd="0" destOrd="0" parTransId="{9B4F5318-74F2-4FAA-9F7F-F56A523B588A}" sibTransId="{58EA836D-2072-41CD-B6F6-EC4D11E45BFF}"/>
    <dgm:cxn modelId="{D9112002-CD09-497A-9382-3EC15DA6D08A}" type="presOf" srcId="{9B4F5318-74F2-4FAA-9F7F-F56A523B588A}" destId="{249CA538-4EF6-4B69-B5E1-10F3FF6E38E1}" srcOrd="1" destOrd="0" presId="urn:microsoft.com/office/officeart/2005/8/layout/hierarchy2"/>
    <dgm:cxn modelId="{47BBDCBB-3F38-449A-918E-8BF8FFEC7989}" type="presOf" srcId="{9561CD54-CD1B-4346-A26E-A1BFB5806FAC}" destId="{4A1C3500-42C2-494E-B36D-A37AD5A45DAF}" srcOrd="0" destOrd="0" presId="urn:microsoft.com/office/officeart/2005/8/layout/hierarchy2"/>
    <dgm:cxn modelId="{296A882E-980B-4B78-A354-E18CDAE867A2}" type="presOf" srcId="{5036D244-7B88-4AE4-8AC6-8E4453E97422}" destId="{677A13DF-4EE3-49F6-85AF-D1B5946BB7CF}" srcOrd="0" destOrd="0" presId="urn:microsoft.com/office/officeart/2005/8/layout/hierarchy2"/>
    <dgm:cxn modelId="{1B14B2A3-6EAA-4ED7-9C26-422DEDAC935C}" type="presOf" srcId="{8CF82699-AFE6-4A70-B0D4-D3F420FA181F}" destId="{C674BC99-20ED-440D-8640-26608BDD4FAA}" srcOrd="0" destOrd="0" presId="urn:microsoft.com/office/officeart/2005/8/layout/hierarchy2"/>
    <dgm:cxn modelId="{055A5E39-0884-41E2-AD3F-CEAEB548A59B}" srcId="{FB0457FA-1012-436A-AF55-29DA6876583B}" destId="{E9BF069E-A649-4E9F-B21C-409BF6E4886D}" srcOrd="1" destOrd="0" parTransId="{9E6B82F5-1A9C-406E-83A9-6ABC25764732}" sibTransId="{7A60BCB4-C6E7-4FE5-A1E7-8B20F9F2A208}"/>
    <dgm:cxn modelId="{5EE0CD89-51CE-42E9-A59D-A5611461FA44}" type="presOf" srcId="{E9BF069E-A649-4E9F-B21C-409BF6E4886D}" destId="{CC21F0E7-688F-433A-AAD0-8468438F05AF}" srcOrd="0" destOrd="0" presId="urn:microsoft.com/office/officeart/2005/8/layout/hierarchy2"/>
    <dgm:cxn modelId="{FA81D7FF-9D96-4B74-AB44-AEDB8F593CFC}" srcId="{9018D79A-6B10-43FC-84EF-0168E0FE8760}" destId="{23E9346B-C064-4E37-9E7B-DF99C8CE8264}" srcOrd="1" destOrd="0" parTransId="{F1082CC7-16B0-49C2-82B7-EA0148FA34F1}" sibTransId="{D35257FB-20B4-4F31-8062-FA6682BF7203}"/>
    <dgm:cxn modelId="{B30FDEF8-0307-4BDE-BB1C-3252B9C03565}" type="presOf" srcId="{38F3A1EA-02AB-499C-A2C9-94B0CDEEBAD7}" destId="{DF46E499-5BF7-4F2E-89CC-32114810A302}" srcOrd="0" destOrd="0" presId="urn:microsoft.com/office/officeart/2005/8/layout/hierarchy2"/>
    <dgm:cxn modelId="{6281A2C1-8F80-41FE-AF65-9C178EAFD022}" type="presOf" srcId="{9B4F5318-74F2-4FAA-9F7F-F56A523B588A}" destId="{74A23BED-DD60-47D3-BDE2-280718208519}" srcOrd="0" destOrd="0" presId="urn:microsoft.com/office/officeart/2005/8/layout/hierarchy2"/>
    <dgm:cxn modelId="{D7C32F55-0A25-477B-87AA-39C336C34BA7}" type="presOf" srcId="{9E6B82F5-1A9C-406E-83A9-6ABC25764732}" destId="{9F1F03B1-A293-40A0-87F1-A9C3F49B3AD7}" srcOrd="1" destOrd="0" presId="urn:microsoft.com/office/officeart/2005/8/layout/hierarchy2"/>
    <dgm:cxn modelId="{B0E7C107-FA49-4D26-AED4-5EBDB7C0961E}" type="presOf" srcId="{9018D79A-6B10-43FC-84EF-0168E0FE8760}" destId="{F519B767-3174-49D5-AD3F-232723D9C07D}" srcOrd="0" destOrd="0" presId="urn:microsoft.com/office/officeart/2005/8/layout/hierarchy2"/>
    <dgm:cxn modelId="{42DDB98E-A562-424C-B73A-937E0958AFAC}" type="presOf" srcId="{38F3A1EA-02AB-499C-A2C9-94B0CDEEBAD7}" destId="{555DB24D-944F-4726-9C52-64113BF731B0}" srcOrd="1" destOrd="0" presId="urn:microsoft.com/office/officeart/2005/8/layout/hierarchy2"/>
    <dgm:cxn modelId="{57535499-2274-4025-A7C3-B4DD301C1E2A}" type="presOf" srcId="{81145901-E790-4DAF-B330-33CACD16CE69}" destId="{2D92A44C-CD35-4155-BC9B-FA7CE48AFDD4}" srcOrd="1" destOrd="0" presId="urn:microsoft.com/office/officeart/2005/8/layout/hierarchy2"/>
    <dgm:cxn modelId="{1028C2FE-E19D-41D1-AC2D-431BB320DB95}" type="presOf" srcId="{81145901-E790-4DAF-B330-33CACD16CE69}" destId="{8833B2E9-2B47-4557-A585-A2C4DD132319}" srcOrd="0" destOrd="0" presId="urn:microsoft.com/office/officeart/2005/8/layout/hierarchy2"/>
    <dgm:cxn modelId="{D5A0283C-9F14-4588-A365-D715FF4E53C0}" srcId="{8CF82699-AFE6-4A70-B0D4-D3F420FA181F}" destId="{9018D79A-6B10-43FC-84EF-0168E0FE8760}" srcOrd="0" destOrd="0" parTransId="{777A9DDF-0D80-4F59-9BDC-6E5397A9B915}" sibTransId="{37A1B036-5785-47A1-BB70-12C3C6E0874C}"/>
    <dgm:cxn modelId="{356196C1-DA6B-44CF-90CA-75A010838C39}" type="presOf" srcId="{23E9346B-C064-4E37-9E7B-DF99C8CE8264}" destId="{31B81D4C-E68F-4C1F-BF69-649BADD4ACD5}" srcOrd="0" destOrd="0" presId="urn:microsoft.com/office/officeart/2005/8/layout/hierarchy2"/>
    <dgm:cxn modelId="{044A4A6D-B30F-473F-B534-F3E488830FCC}" type="presOf" srcId="{A2824B06-479E-4A20-AD07-153A7AC5E67D}" destId="{8D39A59E-007C-439C-AC63-DA4E96C4CBBD}" srcOrd="0" destOrd="0" presId="urn:microsoft.com/office/officeart/2005/8/layout/hierarchy2"/>
    <dgm:cxn modelId="{6EDDEA16-95F2-4995-B6D4-301EE139DC23}" type="presOf" srcId="{6830E4D8-55A8-4991-A4DC-DF8F186B310F}" destId="{D0D53DFD-28C1-493A-8C22-51A37324B558}" srcOrd="1" destOrd="0" presId="urn:microsoft.com/office/officeart/2005/8/layout/hierarchy2"/>
    <dgm:cxn modelId="{65D75525-2EDA-4832-B553-AEEEE7E14B7E}" type="presOf" srcId="{9E6B82F5-1A9C-406E-83A9-6ABC25764732}" destId="{0A36825E-3E88-447D-8890-47D6E502D53E}" srcOrd="0" destOrd="0" presId="urn:microsoft.com/office/officeart/2005/8/layout/hierarchy2"/>
    <dgm:cxn modelId="{AF4AF68A-3A0B-4649-8AB4-34BB3C519EA8}" srcId="{23E9346B-C064-4E37-9E7B-DF99C8CE8264}" destId="{3BCE53E4-4C87-4CC0-9B01-241E27ED37EF}" srcOrd="2" destOrd="0" parTransId="{6830E4D8-55A8-4991-A4DC-DF8F186B310F}" sibTransId="{4ACE1BEE-FC86-44C1-BB9A-D056C80B4B8F}"/>
    <dgm:cxn modelId="{0B1E5D13-62A3-4546-979F-E6D131537095}" srcId="{23E9346B-C064-4E37-9E7B-DF99C8CE8264}" destId="{EE4488F1-754F-49F2-8E77-860CB36679F2}" srcOrd="0" destOrd="0" parTransId="{5036D244-7B88-4AE4-8AC6-8E4453E97422}" sibTransId="{A0D59E2F-1822-4C75-8078-CE842524682F}"/>
    <dgm:cxn modelId="{08D08516-FA02-45BF-94B6-04982AA70B8B}" type="presOf" srcId="{6830E4D8-55A8-4991-A4DC-DF8F186B310F}" destId="{26707DD9-72C4-4585-B0F9-DC79A59BA22A}" srcOrd="0" destOrd="0" presId="urn:microsoft.com/office/officeart/2005/8/layout/hierarchy2"/>
    <dgm:cxn modelId="{54C46667-4492-4E79-81C2-338F95B29156}" type="presOf" srcId="{EE4488F1-754F-49F2-8E77-860CB36679F2}" destId="{D98DD52D-C396-4FF8-BB2D-B16DE37D851F}" srcOrd="0" destOrd="0" presId="urn:microsoft.com/office/officeart/2005/8/layout/hierarchy2"/>
    <dgm:cxn modelId="{6134E8A9-7B5B-42D9-A867-3E8D8C33EBDF}" srcId="{23E9346B-C064-4E37-9E7B-DF99C8CE8264}" destId="{A2824B06-479E-4A20-AD07-153A7AC5E67D}" srcOrd="1" destOrd="0" parTransId="{81145901-E790-4DAF-B330-33CACD16CE69}" sibTransId="{1731A59F-0403-494B-9EC7-B035973D0FF0}"/>
    <dgm:cxn modelId="{AA61B12D-A3CE-45BF-BEAA-F1623A9D7ADB}" type="presOf" srcId="{F1082CC7-16B0-49C2-82B7-EA0148FA34F1}" destId="{9AA11308-0D10-4B85-8D82-CDA53E3C3FD6}" srcOrd="0" destOrd="0" presId="urn:microsoft.com/office/officeart/2005/8/layout/hierarchy2"/>
    <dgm:cxn modelId="{3E490A71-6752-4A6D-9837-9C0489E4DB8E}" type="presOf" srcId="{3BCE53E4-4C87-4CC0-9B01-241E27ED37EF}" destId="{6706D457-0A9D-4508-AFA6-11321699BE2B}" srcOrd="0" destOrd="0" presId="urn:microsoft.com/office/officeart/2005/8/layout/hierarchy2"/>
    <dgm:cxn modelId="{C653C3B2-93C5-44C9-875C-E0760640221E}" type="presOf" srcId="{FB0457FA-1012-436A-AF55-29DA6876583B}" destId="{C1BFACC0-1943-4345-ACF8-E5CF97506A40}" srcOrd="0" destOrd="0" presId="urn:microsoft.com/office/officeart/2005/8/layout/hierarchy2"/>
    <dgm:cxn modelId="{BAFDEE0D-DB5C-4717-90AE-705012A18AB1}" type="presOf" srcId="{F1082CC7-16B0-49C2-82B7-EA0148FA34F1}" destId="{7C0F3913-7768-4BE0-8A28-6B54339EEE85}" srcOrd="1" destOrd="0" presId="urn:microsoft.com/office/officeart/2005/8/layout/hierarchy2"/>
    <dgm:cxn modelId="{E3CDC39E-B363-4349-9B26-D0A2374BB6AF}" srcId="{FB0457FA-1012-436A-AF55-29DA6876583B}" destId="{9561CD54-CD1B-4346-A26E-A1BFB5806FAC}" srcOrd="0" destOrd="0" parTransId="{38F3A1EA-02AB-499C-A2C9-94B0CDEEBAD7}" sibTransId="{BADF9693-93BD-49EC-A63B-FD46CA30FBC6}"/>
    <dgm:cxn modelId="{37D631F4-DF9A-4F27-A5F3-02BBBF593A9A}" type="presParOf" srcId="{C674BC99-20ED-440D-8640-26608BDD4FAA}" destId="{FD1B8A5E-404D-4A6A-AB37-8B063761F145}" srcOrd="0" destOrd="0" presId="urn:microsoft.com/office/officeart/2005/8/layout/hierarchy2"/>
    <dgm:cxn modelId="{326158DF-E191-4E3A-95C3-37A29058088B}" type="presParOf" srcId="{FD1B8A5E-404D-4A6A-AB37-8B063761F145}" destId="{F519B767-3174-49D5-AD3F-232723D9C07D}" srcOrd="0" destOrd="0" presId="urn:microsoft.com/office/officeart/2005/8/layout/hierarchy2"/>
    <dgm:cxn modelId="{665FFC3B-AF2A-4458-9F36-54A2AFBA116A}" type="presParOf" srcId="{FD1B8A5E-404D-4A6A-AB37-8B063761F145}" destId="{F752BAB5-715A-45A4-B2F2-698F97608E4D}" srcOrd="1" destOrd="0" presId="urn:microsoft.com/office/officeart/2005/8/layout/hierarchy2"/>
    <dgm:cxn modelId="{7D5B8F03-BB69-40C9-8105-5B4596C5E3AB}" type="presParOf" srcId="{F752BAB5-715A-45A4-B2F2-698F97608E4D}" destId="{74A23BED-DD60-47D3-BDE2-280718208519}" srcOrd="0" destOrd="0" presId="urn:microsoft.com/office/officeart/2005/8/layout/hierarchy2"/>
    <dgm:cxn modelId="{F612BDB1-8C26-4F9B-8520-1543DD2DDE85}" type="presParOf" srcId="{74A23BED-DD60-47D3-BDE2-280718208519}" destId="{249CA538-4EF6-4B69-B5E1-10F3FF6E38E1}" srcOrd="0" destOrd="0" presId="urn:microsoft.com/office/officeart/2005/8/layout/hierarchy2"/>
    <dgm:cxn modelId="{483260AA-1491-4C3E-8770-6DBBB6D4C753}" type="presParOf" srcId="{F752BAB5-715A-45A4-B2F2-698F97608E4D}" destId="{B6D3365E-4092-4E4A-B4CF-BB97E3F43B31}" srcOrd="1" destOrd="0" presId="urn:microsoft.com/office/officeart/2005/8/layout/hierarchy2"/>
    <dgm:cxn modelId="{5779E33C-93D5-4569-88F2-53FDD04234C7}" type="presParOf" srcId="{B6D3365E-4092-4E4A-B4CF-BB97E3F43B31}" destId="{C1BFACC0-1943-4345-ACF8-E5CF97506A40}" srcOrd="0" destOrd="0" presId="urn:microsoft.com/office/officeart/2005/8/layout/hierarchy2"/>
    <dgm:cxn modelId="{DD72AC75-C908-4DB1-A04B-0041EAAD19C1}" type="presParOf" srcId="{B6D3365E-4092-4E4A-B4CF-BB97E3F43B31}" destId="{D94B08AE-5325-491B-A50B-19978DE05E43}" srcOrd="1" destOrd="0" presId="urn:microsoft.com/office/officeart/2005/8/layout/hierarchy2"/>
    <dgm:cxn modelId="{E76ACBEE-6F29-413B-8D14-61173C3D001B}" type="presParOf" srcId="{D94B08AE-5325-491B-A50B-19978DE05E43}" destId="{DF46E499-5BF7-4F2E-89CC-32114810A302}" srcOrd="0" destOrd="0" presId="urn:microsoft.com/office/officeart/2005/8/layout/hierarchy2"/>
    <dgm:cxn modelId="{FC60FFB1-CC3B-44A4-B68A-34BB6F845962}" type="presParOf" srcId="{DF46E499-5BF7-4F2E-89CC-32114810A302}" destId="{555DB24D-944F-4726-9C52-64113BF731B0}" srcOrd="0" destOrd="0" presId="urn:microsoft.com/office/officeart/2005/8/layout/hierarchy2"/>
    <dgm:cxn modelId="{AA60291F-A4D1-406B-97A8-D955F2B36AE5}" type="presParOf" srcId="{D94B08AE-5325-491B-A50B-19978DE05E43}" destId="{1C14AAB6-80E8-40DE-A990-C2CD17FC31C7}" srcOrd="1" destOrd="0" presId="urn:microsoft.com/office/officeart/2005/8/layout/hierarchy2"/>
    <dgm:cxn modelId="{DF53DD6B-ED42-4D63-87D6-FA6316FCECB7}" type="presParOf" srcId="{1C14AAB6-80E8-40DE-A990-C2CD17FC31C7}" destId="{4A1C3500-42C2-494E-B36D-A37AD5A45DAF}" srcOrd="0" destOrd="0" presId="urn:microsoft.com/office/officeart/2005/8/layout/hierarchy2"/>
    <dgm:cxn modelId="{7EEE749B-D6E0-496B-BA3E-F97C03495FBB}" type="presParOf" srcId="{1C14AAB6-80E8-40DE-A990-C2CD17FC31C7}" destId="{F640041B-F201-4AD4-BA7E-FAA3279B4CDA}" srcOrd="1" destOrd="0" presId="urn:microsoft.com/office/officeart/2005/8/layout/hierarchy2"/>
    <dgm:cxn modelId="{C2157937-2A2F-4353-8041-6BD58B912A0C}" type="presParOf" srcId="{D94B08AE-5325-491B-A50B-19978DE05E43}" destId="{0A36825E-3E88-447D-8890-47D6E502D53E}" srcOrd="2" destOrd="0" presId="urn:microsoft.com/office/officeart/2005/8/layout/hierarchy2"/>
    <dgm:cxn modelId="{0CAE9FE7-384C-412F-A021-A75DB795CCEA}" type="presParOf" srcId="{0A36825E-3E88-447D-8890-47D6E502D53E}" destId="{9F1F03B1-A293-40A0-87F1-A9C3F49B3AD7}" srcOrd="0" destOrd="0" presId="urn:microsoft.com/office/officeart/2005/8/layout/hierarchy2"/>
    <dgm:cxn modelId="{33A72B85-8A29-41CD-AD82-AD58464C458C}" type="presParOf" srcId="{D94B08AE-5325-491B-A50B-19978DE05E43}" destId="{DD78AC38-5FB6-4B75-BF24-F82F92446AB3}" srcOrd="3" destOrd="0" presId="urn:microsoft.com/office/officeart/2005/8/layout/hierarchy2"/>
    <dgm:cxn modelId="{75505BEE-1258-42CB-A379-55A940891252}" type="presParOf" srcId="{DD78AC38-5FB6-4B75-BF24-F82F92446AB3}" destId="{CC21F0E7-688F-433A-AAD0-8468438F05AF}" srcOrd="0" destOrd="0" presId="urn:microsoft.com/office/officeart/2005/8/layout/hierarchy2"/>
    <dgm:cxn modelId="{9ACE570D-D4CF-4376-88A0-0B725C699357}" type="presParOf" srcId="{DD78AC38-5FB6-4B75-BF24-F82F92446AB3}" destId="{F0A7E3C1-C648-49FF-B73D-A03B5DAB1B3C}" srcOrd="1" destOrd="0" presId="urn:microsoft.com/office/officeart/2005/8/layout/hierarchy2"/>
    <dgm:cxn modelId="{53B681BF-2E7A-4C93-B13D-6F51A7F1BFD1}" type="presParOf" srcId="{F752BAB5-715A-45A4-B2F2-698F97608E4D}" destId="{9AA11308-0D10-4B85-8D82-CDA53E3C3FD6}" srcOrd="2" destOrd="0" presId="urn:microsoft.com/office/officeart/2005/8/layout/hierarchy2"/>
    <dgm:cxn modelId="{27F11C8F-E866-41E8-9FD4-28E54775AB9A}" type="presParOf" srcId="{9AA11308-0D10-4B85-8D82-CDA53E3C3FD6}" destId="{7C0F3913-7768-4BE0-8A28-6B54339EEE85}" srcOrd="0" destOrd="0" presId="urn:microsoft.com/office/officeart/2005/8/layout/hierarchy2"/>
    <dgm:cxn modelId="{2E99C71F-4968-406E-9202-5854588FF7CA}" type="presParOf" srcId="{F752BAB5-715A-45A4-B2F2-698F97608E4D}" destId="{C97D3026-FFED-4A23-9069-381661E9B715}" srcOrd="3" destOrd="0" presId="urn:microsoft.com/office/officeart/2005/8/layout/hierarchy2"/>
    <dgm:cxn modelId="{F9F576F2-67CB-4190-9530-C94B313AE30B}" type="presParOf" srcId="{C97D3026-FFED-4A23-9069-381661E9B715}" destId="{31B81D4C-E68F-4C1F-BF69-649BADD4ACD5}" srcOrd="0" destOrd="0" presId="urn:microsoft.com/office/officeart/2005/8/layout/hierarchy2"/>
    <dgm:cxn modelId="{BC59CF83-B826-41AA-81B4-A2649A36083B}" type="presParOf" srcId="{C97D3026-FFED-4A23-9069-381661E9B715}" destId="{A893D399-38E2-45BF-9B3A-5A9DC23EA5C1}" srcOrd="1" destOrd="0" presId="urn:microsoft.com/office/officeart/2005/8/layout/hierarchy2"/>
    <dgm:cxn modelId="{558BB128-06E0-42B1-99D1-9CB2FE681393}" type="presParOf" srcId="{A893D399-38E2-45BF-9B3A-5A9DC23EA5C1}" destId="{677A13DF-4EE3-49F6-85AF-D1B5946BB7CF}" srcOrd="0" destOrd="0" presId="urn:microsoft.com/office/officeart/2005/8/layout/hierarchy2"/>
    <dgm:cxn modelId="{243F4DAA-2442-4DCB-BD32-ED9695972131}" type="presParOf" srcId="{677A13DF-4EE3-49F6-85AF-D1B5946BB7CF}" destId="{F89BB5A9-85AC-4017-89DE-B5F736C2CEF1}" srcOrd="0" destOrd="0" presId="urn:microsoft.com/office/officeart/2005/8/layout/hierarchy2"/>
    <dgm:cxn modelId="{987C64D0-50DA-403D-9CD7-16162A8E6AE6}" type="presParOf" srcId="{A893D399-38E2-45BF-9B3A-5A9DC23EA5C1}" destId="{13FEF0C6-5B9F-44C2-B382-DCCD051D6F71}" srcOrd="1" destOrd="0" presId="urn:microsoft.com/office/officeart/2005/8/layout/hierarchy2"/>
    <dgm:cxn modelId="{FD0E8C57-132F-4217-8B19-15D057013775}" type="presParOf" srcId="{13FEF0C6-5B9F-44C2-B382-DCCD051D6F71}" destId="{D98DD52D-C396-4FF8-BB2D-B16DE37D851F}" srcOrd="0" destOrd="0" presId="urn:microsoft.com/office/officeart/2005/8/layout/hierarchy2"/>
    <dgm:cxn modelId="{48CA390A-EEFE-4253-A20D-4B6830F0F30B}" type="presParOf" srcId="{13FEF0C6-5B9F-44C2-B382-DCCD051D6F71}" destId="{F568C04B-E47D-49C6-831A-7E5A4DA665EF}" srcOrd="1" destOrd="0" presId="urn:microsoft.com/office/officeart/2005/8/layout/hierarchy2"/>
    <dgm:cxn modelId="{FCBC3441-0875-4EA8-B45F-AD07A2DC5712}" type="presParOf" srcId="{A893D399-38E2-45BF-9B3A-5A9DC23EA5C1}" destId="{8833B2E9-2B47-4557-A585-A2C4DD132319}" srcOrd="2" destOrd="0" presId="urn:microsoft.com/office/officeart/2005/8/layout/hierarchy2"/>
    <dgm:cxn modelId="{0313C02D-67E3-4E8F-8497-76F364553784}" type="presParOf" srcId="{8833B2E9-2B47-4557-A585-A2C4DD132319}" destId="{2D92A44C-CD35-4155-BC9B-FA7CE48AFDD4}" srcOrd="0" destOrd="0" presId="urn:microsoft.com/office/officeart/2005/8/layout/hierarchy2"/>
    <dgm:cxn modelId="{83FFCEB4-58C1-415A-8E07-E83F0E6A6672}" type="presParOf" srcId="{A893D399-38E2-45BF-9B3A-5A9DC23EA5C1}" destId="{731B1DF6-4811-4308-8BB8-611673503557}" srcOrd="3" destOrd="0" presId="urn:microsoft.com/office/officeart/2005/8/layout/hierarchy2"/>
    <dgm:cxn modelId="{4538ADEE-80EC-4327-929A-D4F2EA9CC807}" type="presParOf" srcId="{731B1DF6-4811-4308-8BB8-611673503557}" destId="{8D39A59E-007C-439C-AC63-DA4E96C4CBBD}" srcOrd="0" destOrd="0" presId="urn:microsoft.com/office/officeart/2005/8/layout/hierarchy2"/>
    <dgm:cxn modelId="{A6E9E5E5-384E-48B3-AAA0-9BBD64EA8C11}" type="presParOf" srcId="{731B1DF6-4811-4308-8BB8-611673503557}" destId="{95BE7AD4-1430-4F8F-BA80-B279D601B61E}" srcOrd="1" destOrd="0" presId="urn:microsoft.com/office/officeart/2005/8/layout/hierarchy2"/>
    <dgm:cxn modelId="{DE263AC4-7C40-42EC-8FC0-940F6A9BB75E}" type="presParOf" srcId="{A893D399-38E2-45BF-9B3A-5A9DC23EA5C1}" destId="{26707DD9-72C4-4585-B0F9-DC79A59BA22A}" srcOrd="4" destOrd="0" presId="urn:microsoft.com/office/officeart/2005/8/layout/hierarchy2"/>
    <dgm:cxn modelId="{C07E3766-E23B-4B2E-8C06-FF6FC92283C2}" type="presParOf" srcId="{26707DD9-72C4-4585-B0F9-DC79A59BA22A}" destId="{D0D53DFD-28C1-493A-8C22-51A37324B558}" srcOrd="0" destOrd="0" presId="urn:microsoft.com/office/officeart/2005/8/layout/hierarchy2"/>
    <dgm:cxn modelId="{DAA5CBA8-3B31-4A7B-A79B-5DFE4324802D}" type="presParOf" srcId="{A893D399-38E2-45BF-9B3A-5A9DC23EA5C1}" destId="{917CC23D-B444-428F-A323-F519E44BA8D7}" srcOrd="5" destOrd="0" presId="urn:microsoft.com/office/officeart/2005/8/layout/hierarchy2"/>
    <dgm:cxn modelId="{87DC21D0-B244-4800-8346-FF26FB60D5DF}" type="presParOf" srcId="{917CC23D-B444-428F-A323-F519E44BA8D7}" destId="{6706D457-0A9D-4508-AFA6-11321699BE2B}" srcOrd="0" destOrd="0" presId="urn:microsoft.com/office/officeart/2005/8/layout/hierarchy2"/>
    <dgm:cxn modelId="{AC2B3A53-A376-4852-AE7A-D90A2206C628}" type="presParOf" srcId="{917CC23D-B444-428F-A323-F519E44BA8D7}" destId="{14A7D7C8-1CC9-439F-8F3E-FA4E67C88916}" srcOrd="1" destOrd="0" presId="urn:microsoft.com/office/officeart/2005/8/layout/hierarchy2"/>
  </dgm:cxnLst>
  <dgm:bg>
    <a:noFill/>
    <a:effectLst>
      <a:glow rad="63500">
        <a:schemeClr val="accent5">
          <a:satMod val="175000"/>
          <a:alpha val="40000"/>
        </a:schemeClr>
      </a:glow>
      <a:outerShdw blurRad="50800" dist="38100" dir="5400000" sx="187000" sy="187000" algn="t" rotWithShape="0">
        <a:prstClr val="black">
          <a:alpha val="39000"/>
        </a:prstClr>
      </a:outerShdw>
    </a:effectLst>
  </dgm:bg>
  <dgm:whole>
    <a:effectLst/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F82699-AFE6-4A70-B0D4-D3F420FA181F}" type="doc">
      <dgm:prSet loTypeId="urn:microsoft.com/office/officeart/2005/8/layout/hierarchy2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018D79A-6B10-43FC-84EF-0168E0FE8760}">
      <dgm:prSet phldrT="[Текст]" custT="1"/>
      <dgm:spPr>
        <a:solidFill>
          <a:schemeClr val="accent6">
            <a:lumMod val="50000"/>
          </a:schemeClr>
        </a:solidFill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Асосий капиталга инвестициялар</a:t>
          </a:r>
          <a:endParaRPr lang="ru-RU" sz="2000" dirty="0"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777A9DDF-0D80-4F59-9BDC-6E5397A9B915}" type="parTrans" cxnId="{D5A0283C-9F14-4588-A365-D715FF4E53C0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37A1B036-5785-47A1-BB70-12C3C6E0874C}" type="sibTrans" cxnId="{D5A0283C-9F14-4588-A365-D715FF4E53C0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FB0457FA-1012-436A-AF55-29DA6876583B}">
      <dgm:prSet phldrT="[Текст]" custT="1"/>
      <dgm:spPr>
        <a:solidFill>
          <a:schemeClr val="accent1">
            <a:lumMod val="75000"/>
          </a:schemeClr>
        </a:solidFill>
        <a:ln>
          <a:solidFill>
            <a:schemeClr val="accent1">
              <a:lumMod val="75000"/>
            </a:schemeClr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28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Юридик </a:t>
          </a:r>
          <a:br>
            <a:rPr lang="uz-Cyrl-UZ" sz="28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28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шахслар</a:t>
          </a:r>
          <a:endParaRPr lang="ru-RU" sz="2800" u="sng" dirty="0"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9B4F5318-74F2-4FAA-9F7F-F56A523B588A}" type="parTrans" cxnId="{0745C29D-9913-44F5-87CD-6C27B9DBAFE7}">
      <dgm:prSet/>
      <dgm:spPr>
        <a:ln w="28575">
          <a:solidFill>
            <a:schemeClr val="accent1">
              <a:lumMod val="75000"/>
            </a:schemeClr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58EA836D-2072-41CD-B6F6-EC4D11E45BFF}" type="sibTrans" cxnId="{0745C29D-9913-44F5-87CD-6C27B9DBAFE7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9561CD54-CD1B-4346-A26E-A1BFB5806FAC}">
      <dgm:prSet phldrT="[Текст]" custT="1"/>
      <dgm:spPr>
        <a:solidFill>
          <a:schemeClr val="accent1">
            <a:lumMod val="75000"/>
          </a:schemeClr>
        </a:solidFill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lnSpc>
              <a:spcPct val="90000"/>
            </a:lnSpc>
            <a:spcAft>
              <a:spcPts val="0"/>
            </a:spcAft>
          </a:pPr>
          <a: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Йирик корхона ва ташкилотлар </a:t>
          </a:r>
          <a:r>
            <a:rPr lang="uz-Cyrl-UZ" sz="1600" b="1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(йиллик - сони 3362 та )</a:t>
          </a:r>
          <a:r>
            <a:rPr lang="uz-Cyrl-UZ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endParaRPr lang="uz-Cyrl-UZ" sz="1600" b="1" dirty="0" smtClean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38F3A1EA-02AB-499C-A2C9-94B0CDEEBAD7}" type="parTrans" cxnId="{E3CDC39E-B363-4349-9B26-D0A2374BB6AF}">
      <dgm:prSet/>
      <dgm:spPr>
        <a:ln w="19050">
          <a:solidFill>
            <a:schemeClr val="accent1">
              <a:lumMod val="75000"/>
            </a:schemeClr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BADF9693-93BD-49EC-A63B-FD46CA30FBC6}" type="sibTrans" cxnId="{E3CDC39E-B363-4349-9B26-D0A2374BB6AF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23E9346B-C064-4E37-9E7B-DF99C8CE8264}">
      <dgm:prSet phldrT="[Текст]" custT="1"/>
      <dgm:spPr>
        <a:solidFill>
          <a:schemeClr val="accent2"/>
        </a:solidFill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28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Жисмоний шахслар</a:t>
          </a:r>
          <a:endParaRPr lang="ru-RU" sz="2800" u="sng" dirty="0"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F1082CC7-16B0-49C2-82B7-EA0148FA34F1}" type="parTrans" cxnId="{FA81D7FF-9D96-4B74-AB44-AEDB8F593CFC}">
      <dgm:prSet/>
      <dgm:spPr>
        <a:ln w="28575">
          <a:solidFill>
            <a:schemeClr val="accent1">
              <a:lumMod val="75000"/>
            </a:schemeClr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D35257FB-20B4-4F31-8062-FA6682BF7203}" type="sibTrans" cxnId="{FA81D7FF-9D96-4B74-AB44-AEDB8F593CFC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EE4488F1-754F-49F2-8E77-860CB36679F2}">
      <dgm:prSet phldrT="[Текст]" custT="1"/>
      <dgm:spPr>
        <a:solidFill>
          <a:schemeClr val="accent2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pPr>
            <a:spcAft>
              <a:spcPts val="0"/>
            </a:spcAft>
          </a:pPr>
          <a: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Якка тартибдаги турар жой обеъктлари</a:t>
          </a:r>
          <a:b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r>
            <a:rPr lang="uz-Cyrl-UZ" sz="1600" b="1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(хар чоракда 14 та ҳудудий кадастр органлари)</a:t>
          </a:r>
          <a:r>
            <a:rPr lang="uz-Cyrl-UZ" sz="1600" b="1" i="1" dirty="0" smtClean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endParaRPr lang="ru-RU" sz="1600" i="1" dirty="0">
            <a:solidFill>
              <a:schemeClr val="bg2">
                <a:lumMod val="90000"/>
              </a:schemeClr>
            </a:solidFill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5036D244-7B88-4AE4-8AC6-8E4453E97422}" type="parTrans" cxnId="{0B1E5D13-62A3-4546-979F-E6D131537095}">
      <dgm:prSet/>
      <dgm:spPr>
        <a:ln w="19050">
          <a:solidFill>
            <a:schemeClr val="accent1">
              <a:lumMod val="75000"/>
            </a:schemeClr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A0D59E2F-1822-4C75-8078-CE842524682F}" type="sibTrans" cxnId="{0B1E5D13-62A3-4546-979F-E6D131537095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E9BF069E-A649-4E9F-B21C-409BF6E4886D}">
      <dgm:prSet custT="1"/>
      <dgm:spPr>
        <a:solidFill>
          <a:schemeClr val="accent1">
            <a:lumMod val="75000"/>
          </a:schemeClr>
        </a:solidFill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Кичик корхона ва микрофирмалар </a:t>
          </a:r>
          <a:r>
            <a:rPr lang="uz-Cyrl-UZ" sz="1800" b="1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</a:t>
          </a:r>
          <a:r>
            <a:rPr lang="uz-Cyrl-UZ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йиллик - сони 18915 та, чораклик 2560 та) </a:t>
          </a:r>
          <a:endParaRPr lang="ru-RU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9E6B82F5-1A9C-406E-83A9-6ABC25764732}" type="parTrans" cxnId="{055A5E39-0884-41E2-AD3F-CEAEB548A59B}">
      <dgm:prSet/>
      <dgm:spPr>
        <a:ln w="19050">
          <a:solidFill>
            <a:schemeClr val="accent1"/>
          </a:solidFill>
        </a:ln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7A60BCB4-C6E7-4FE5-A1E7-8B20F9F2A208}" type="sibTrans" cxnId="{055A5E39-0884-41E2-AD3F-CEAEB548A59B}">
      <dgm:prSet/>
      <dgm:spPr/>
      <dgm:t>
        <a:bodyPr/>
        <a:lstStyle/>
        <a:p>
          <a:endParaRPr lang="ru-RU">
            <a:latin typeface="Cambria" pitchFamily="18" charset="0"/>
            <a:ea typeface="Cambria" pitchFamily="18" charset="0"/>
          </a:endParaRPr>
        </a:p>
      </dgm:t>
    </dgm:pt>
    <dgm:pt modelId="{A2824B06-479E-4A20-AD07-153A7AC5E67D}">
      <dgm:prSet phldrT="[Текст]" custT="1"/>
      <dgm:spPr>
        <a:solidFill>
          <a:schemeClr val="accent2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Якка тартибдаги нотурар жой объектлари</a:t>
          </a:r>
          <a:b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r>
            <a:rPr lang="uz-Cyrl-UZ" sz="1600" b="1" i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(хар чоракда 14 та ҳудудий кадастр органлари)</a:t>
          </a:r>
          <a:r>
            <a:rPr lang="uz-Cyrl-UZ" sz="1600" b="1" i="1" dirty="0" smtClean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endParaRPr lang="ru-RU" sz="1600" i="1" dirty="0">
            <a:solidFill>
              <a:schemeClr val="bg2">
                <a:lumMod val="90000"/>
              </a:schemeClr>
            </a:solidFill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81145901-E790-4DAF-B330-33CACD16CE69}" type="parTrans" cxnId="{6134E8A9-7B5B-42D9-A867-3E8D8C33EBDF}">
      <dgm:prSet/>
      <dgm:spPr/>
      <dgm:t>
        <a:bodyPr/>
        <a:lstStyle/>
        <a:p>
          <a:endParaRPr lang="ru-RU"/>
        </a:p>
      </dgm:t>
    </dgm:pt>
    <dgm:pt modelId="{1731A59F-0403-494B-9EC7-B035973D0FF0}" type="sibTrans" cxnId="{6134E8A9-7B5B-42D9-A867-3E8D8C33EBDF}">
      <dgm:prSet/>
      <dgm:spPr/>
      <dgm:t>
        <a:bodyPr/>
        <a:lstStyle/>
        <a:p>
          <a:endParaRPr lang="ru-RU"/>
        </a:p>
      </dgm:t>
    </dgm:pt>
    <dgm:pt modelId="{576B73BC-BCA6-49EC-8238-9C3D2AF617BB}">
      <dgm:prSet custT="1"/>
      <dgm:spPr>
        <a:solidFill>
          <a:schemeClr val="accent1">
            <a:lumMod val="75000"/>
          </a:schemeClr>
        </a:solidFill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Фермер хўжаликлари</a:t>
          </a:r>
          <a:r>
            <a: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/>
          </a:r>
          <a:br>
            <a: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r>
            <a:rPr lang="uz-Cyrl-UZ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(йиллик - сони 1311 та)</a:t>
          </a:r>
          <a:endParaRPr lang="ru-RU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50F6D777-8A9C-4728-9953-B6BED08E2A3D}" type="parTrans" cxnId="{D4ACFD62-ABDF-4A14-86FB-667C7A87FFD3}">
      <dgm:prSet/>
      <dgm:spPr/>
      <dgm:t>
        <a:bodyPr/>
        <a:lstStyle/>
        <a:p>
          <a:endParaRPr lang="ru-RU"/>
        </a:p>
      </dgm:t>
    </dgm:pt>
    <dgm:pt modelId="{6FEB7157-FE1F-42E0-A8CD-E6258866552D}" type="sibTrans" cxnId="{D4ACFD62-ABDF-4A14-86FB-667C7A87FFD3}">
      <dgm:prSet/>
      <dgm:spPr/>
      <dgm:t>
        <a:bodyPr/>
        <a:lstStyle/>
        <a:p>
          <a:endParaRPr lang="ru-RU"/>
        </a:p>
      </dgm:t>
    </dgm:pt>
    <dgm:pt modelId="{65C2EAD3-336A-40E2-9147-708553995C91}">
      <dgm:prSet custT="1"/>
      <dgm:spPr>
        <a:solidFill>
          <a:schemeClr val="accent1">
            <a:lumMod val="75000"/>
          </a:schemeClr>
        </a:solidFill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uz-Cyrl-UZ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Нотижорат ташкилотлари</a:t>
          </a:r>
          <a:r>
            <a:rPr lang="en-US" sz="2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/>
          </a:r>
          <a:br>
            <a:rPr lang="en-US" sz="2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(йиллик - сони 4128 та) </a:t>
          </a:r>
          <a:endParaRPr lang="ru-RU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gm:t>
    </dgm:pt>
    <dgm:pt modelId="{CE7AE11A-BE5F-49BD-A617-7BEF3D2D581E}" type="parTrans" cxnId="{363A5D6E-CBD0-45B1-8AB9-6B78CA3B048F}">
      <dgm:prSet/>
      <dgm:spPr/>
      <dgm:t>
        <a:bodyPr/>
        <a:lstStyle/>
        <a:p>
          <a:endParaRPr lang="ru-RU"/>
        </a:p>
      </dgm:t>
    </dgm:pt>
    <dgm:pt modelId="{681E56E6-2216-4C67-A3E2-5F39F45F96F9}" type="sibTrans" cxnId="{363A5D6E-CBD0-45B1-8AB9-6B78CA3B048F}">
      <dgm:prSet/>
      <dgm:spPr/>
      <dgm:t>
        <a:bodyPr/>
        <a:lstStyle/>
        <a:p>
          <a:endParaRPr lang="ru-RU"/>
        </a:p>
      </dgm:t>
    </dgm:pt>
    <dgm:pt modelId="{C674BC99-20ED-440D-8640-26608BDD4FAA}" type="pres">
      <dgm:prSet presAssocID="{8CF82699-AFE6-4A70-B0D4-D3F420FA181F}" presName="diagram" presStyleCnt="0">
        <dgm:presLayoutVars>
          <dgm:chPref val="1"/>
          <dgm:dir val="rev"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D1B8A5E-404D-4A6A-AB37-8B063761F145}" type="pres">
      <dgm:prSet presAssocID="{9018D79A-6B10-43FC-84EF-0168E0FE8760}" presName="root1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F519B767-3174-49D5-AD3F-232723D9C07D}" type="pres">
      <dgm:prSet presAssocID="{9018D79A-6B10-43FC-84EF-0168E0FE8760}" presName="LevelOneTextNode" presStyleLbl="node0" presStyleIdx="0" presStyleCnt="1" custScaleX="135863" custScaleY="140536" custLinFactNeighborX="812" custLinFactNeighborY="1242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752BAB5-715A-45A4-B2F2-698F97608E4D}" type="pres">
      <dgm:prSet presAssocID="{9018D79A-6B10-43FC-84EF-0168E0FE8760}" presName="level2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74A23BED-DD60-47D3-BDE2-280718208519}" type="pres">
      <dgm:prSet presAssocID="{9B4F5318-74F2-4FAA-9F7F-F56A523B588A}" presName="conn2-1" presStyleLbl="parChTrans1D2" presStyleIdx="0" presStyleCnt="2"/>
      <dgm:spPr/>
      <dgm:t>
        <a:bodyPr/>
        <a:lstStyle/>
        <a:p>
          <a:endParaRPr lang="ru-RU"/>
        </a:p>
      </dgm:t>
    </dgm:pt>
    <dgm:pt modelId="{249CA538-4EF6-4B69-B5E1-10F3FF6E38E1}" type="pres">
      <dgm:prSet presAssocID="{9B4F5318-74F2-4FAA-9F7F-F56A523B588A}" presName="connTx" presStyleLbl="parChTrans1D2" presStyleIdx="0" presStyleCnt="2"/>
      <dgm:spPr/>
      <dgm:t>
        <a:bodyPr/>
        <a:lstStyle/>
        <a:p>
          <a:endParaRPr lang="ru-RU"/>
        </a:p>
      </dgm:t>
    </dgm:pt>
    <dgm:pt modelId="{B6D3365E-4092-4E4A-B4CF-BB97E3F43B31}" type="pres">
      <dgm:prSet presAssocID="{FB0457FA-1012-436A-AF55-29DA6876583B}" presName="root2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C1BFACC0-1943-4345-ACF8-E5CF97506A40}" type="pres">
      <dgm:prSet presAssocID="{FB0457FA-1012-436A-AF55-29DA6876583B}" presName="LevelTwoTextNode" presStyleLbl="node2" presStyleIdx="0" presStyleCnt="2" custScaleX="158577" custScaleY="157802" custLinFactNeighborX="17111" custLinFactNeighborY="866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94B08AE-5325-491B-A50B-19978DE05E43}" type="pres">
      <dgm:prSet presAssocID="{FB0457FA-1012-436A-AF55-29DA6876583B}" presName="level3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DF46E499-5BF7-4F2E-89CC-32114810A302}" type="pres">
      <dgm:prSet presAssocID="{38F3A1EA-02AB-499C-A2C9-94B0CDEEBAD7}" presName="conn2-1" presStyleLbl="parChTrans1D3" presStyleIdx="0" presStyleCnt="6"/>
      <dgm:spPr/>
      <dgm:t>
        <a:bodyPr/>
        <a:lstStyle/>
        <a:p>
          <a:endParaRPr lang="ru-RU"/>
        </a:p>
      </dgm:t>
    </dgm:pt>
    <dgm:pt modelId="{555DB24D-944F-4726-9C52-64113BF731B0}" type="pres">
      <dgm:prSet presAssocID="{38F3A1EA-02AB-499C-A2C9-94B0CDEEBAD7}" presName="connTx" presStyleLbl="parChTrans1D3" presStyleIdx="0" presStyleCnt="6"/>
      <dgm:spPr/>
      <dgm:t>
        <a:bodyPr/>
        <a:lstStyle/>
        <a:p>
          <a:endParaRPr lang="ru-RU"/>
        </a:p>
      </dgm:t>
    </dgm:pt>
    <dgm:pt modelId="{1C14AAB6-80E8-40DE-A990-C2CD17FC31C7}" type="pres">
      <dgm:prSet presAssocID="{9561CD54-CD1B-4346-A26E-A1BFB5806FAC}" presName="root2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4A1C3500-42C2-494E-B36D-A37AD5A45DAF}" type="pres">
      <dgm:prSet presAssocID="{9561CD54-CD1B-4346-A26E-A1BFB5806FAC}" presName="LevelTwoTextNode" presStyleLbl="node3" presStyleIdx="0" presStyleCnt="6" custScaleX="289660" custLinFactNeighborX="-45036" custLinFactNeighborY="952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640041B-F201-4AD4-BA7E-FAA3279B4CDA}" type="pres">
      <dgm:prSet presAssocID="{9561CD54-CD1B-4346-A26E-A1BFB5806FAC}" presName="level3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0A36825E-3E88-447D-8890-47D6E502D53E}" type="pres">
      <dgm:prSet presAssocID="{9E6B82F5-1A9C-406E-83A9-6ABC25764732}" presName="conn2-1" presStyleLbl="parChTrans1D3" presStyleIdx="1" presStyleCnt="6"/>
      <dgm:spPr/>
      <dgm:t>
        <a:bodyPr/>
        <a:lstStyle/>
        <a:p>
          <a:endParaRPr lang="ru-RU"/>
        </a:p>
      </dgm:t>
    </dgm:pt>
    <dgm:pt modelId="{9F1F03B1-A293-40A0-87F1-A9C3F49B3AD7}" type="pres">
      <dgm:prSet presAssocID="{9E6B82F5-1A9C-406E-83A9-6ABC25764732}" presName="connTx" presStyleLbl="parChTrans1D3" presStyleIdx="1" presStyleCnt="6"/>
      <dgm:spPr/>
      <dgm:t>
        <a:bodyPr/>
        <a:lstStyle/>
        <a:p>
          <a:endParaRPr lang="ru-RU"/>
        </a:p>
      </dgm:t>
    </dgm:pt>
    <dgm:pt modelId="{DD78AC38-5FB6-4B75-BF24-F82F92446AB3}" type="pres">
      <dgm:prSet presAssocID="{E9BF069E-A649-4E9F-B21C-409BF6E4886D}" presName="root2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CC21F0E7-688F-433A-AAD0-8468438F05AF}" type="pres">
      <dgm:prSet presAssocID="{E9BF069E-A649-4E9F-B21C-409BF6E4886D}" presName="LevelTwoTextNode" presStyleLbl="node3" presStyleIdx="1" presStyleCnt="6" custScaleX="288618" custLinFactNeighborX="-29796" custLinFactNeighborY="292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0A7E3C1-C648-49FF-B73D-A03B5DAB1B3C}" type="pres">
      <dgm:prSet presAssocID="{E9BF069E-A649-4E9F-B21C-409BF6E4886D}" presName="level3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73F2A181-B824-417E-8824-BDCD86E577CB}" type="pres">
      <dgm:prSet presAssocID="{50F6D777-8A9C-4728-9953-B6BED08E2A3D}" presName="conn2-1" presStyleLbl="parChTrans1D3" presStyleIdx="2" presStyleCnt="6"/>
      <dgm:spPr/>
      <dgm:t>
        <a:bodyPr/>
        <a:lstStyle/>
        <a:p>
          <a:endParaRPr lang="ru-RU"/>
        </a:p>
      </dgm:t>
    </dgm:pt>
    <dgm:pt modelId="{B422B74F-3CAF-443D-AFB1-1391DE41AFF5}" type="pres">
      <dgm:prSet presAssocID="{50F6D777-8A9C-4728-9953-B6BED08E2A3D}" presName="connTx" presStyleLbl="parChTrans1D3" presStyleIdx="2" presStyleCnt="6"/>
      <dgm:spPr/>
      <dgm:t>
        <a:bodyPr/>
        <a:lstStyle/>
        <a:p>
          <a:endParaRPr lang="ru-RU"/>
        </a:p>
      </dgm:t>
    </dgm:pt>
    <dgm:pt modelId="{7A6C5829-3690-46C1-8898-5622813014EF}" type="pres">
      <dgm:prSet presAssocID="{576B73BC-BCA6-49EC-8238-9C3D2AF617BB}" presName="root2" presStyleCnt="0"/>
      <dgm:spPr/>
    </dgm:pt>
    <dgm:pt modelId="{DB8521B9-042F-4032-9C1E-CA8E9C7A929F}" type="pres">
      <dgm:prSet presAssocID="{576B73BC-BCA6-49EC-8238-9C3D2AF617BB}" presName="LevelTwoTextNode" presStyleLbl="node3" presStyleIdx="2" presStyleCnt="6" custScaleX="288618" custLinFactNeighborX="-29796" custLinFactNeighborY="292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72AB70A2-0F8F-4AED-8BFC-98B9AD969DD3}" type="pres">
      <dgm:prSet presAssocID="{576B73BC-BCA6-49EC-8238-9C3D2AF617BB}" presName="level3hierChild" presStyleCnt="0"/>
      <dgm:spPr/>
    </dgm:pt>
    <dgm:pt modelId="{44FBB70D-5C5C-4326-9068-D5CE7D1933A4}" type="pres">
      <dgm:prSet presAssocID="{CE7AE11A-BE5F-49BD-A617-7BEF3D2D581E}" presName="conn2-1" presStyleLbl="parChTrans1D3" presStyleIdx="3" presStyleCnt="6"/>
      <dgm:spPr/>
      <dgm:t>
        <a:bodyPr/>
        <a:lstStyle/>
        <a:p>
          <a:endParaRPr lang="ru-RU"/>
        </a:p>
      </dgm:t>
    </dgm:pt>
    <dgm:pt modelId="{C6F228B0-D195-4773-8860-09B11DB455FB}" type="pres">
      <dgm:prSet presAssocID="{CE7AE11A-BE5F-49BD-A617-7BEF3D2D581E}" presName="connTx" presStyleLbl="parChTrans1D3" presStyleIdx="3" presStyleCnt="6"/>
      <dgm:spPr/>
      <dgm:t>
        <a:bodyPr/>
        <a:lstStyle/>
        <a:p>
          <a:endParaRPr lang="ru-RU"/>
        </a:p>
      </dgm:t>
    </dgm:pt>
    <dgm:pt modelId="{66F94B07-8169-404F-99A2-D1528CD5EC21}" type="pres">
      <dgm:prSet presAssocID="{65C2EAD3-336A-40E2-9147-708553995C91}" presName="root2" presStyleCnt="0"/>
      <dgm:spPr/>
    </dgm:pt>
    <dgm:pt modelId="{B8DC1B8C-9A84-4357-A02C-D772707D4A17}" type="pres">
      <dgm:prSet presAssocID="{65C2EAD3-336A-40E2-9147-708553995C91}" presName="LevelTwoTextNode" presStyleLbl="node3" presStyleIdx="3" presStyleCnt="6" custScaleX="288618" custLinFactNeighborX="-9679" custLinFactNeighborY="689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9A078C2-418E-44D8-A7A2-3325329F503B}" type="pres">
      <dgm:prSet presAssocID="{65C2EAD3-336A-40E2-9147-708553995C91}" presName="level3hierChild" presStyleCnt="0"/>
      <dgm:spPr/>
    </dgm:pt>
    <dgm:pt modelId="{9AA11308-0D10-4B85-8D82-CDA53E3C3FD6}" type="pres">
      <dgm:prSet presAssocID="{F1082CC7-16B0-49C2-82B7-EA0148FA34F1}" presName="conn2-1" presStyleLbl="parChTrans1D2" presStyleIdx="1" presStyleCnt="2"/>
      <dgm:spPr/>
      <dgm:t>
        <a:bodyPr/>
        <a:lstStyle/>
        <a:p>
          <a:endParaRPr lang="ru-RU"/>
        </a:p>
      </dgm:t>
    </dgm:pt>
    <dgm:pt modelId="{7C0F3913-7768-4BE0-8A28-6B54339EEE85}" type="pres">
      <dgm:prSet presAssocID="{F1082CC7-16B0-49C2-82B7-EA0148FA34F1}" presName="connTx" presStyleLbl="parChTrans1D2" presStyleIdx="1" presStyleCnt="2"/>
      <dgm:spPr/>
      <dgm:t>
        <a:bodyPr/>
        <a:lstStyle/>
        <a:p>
          <a:endParaRPr lang="ru-RU"/>
        </a:p>
      </dgm:t>
    </dgm:pt>
    <dgm:pt modelId="{C97D3026-FFED-4A23-9069-381661E9B715}" type="pres">
      <dgm:prSet presAssocID="{23E9346B-C064-4E37-9E7B-DF99C8CE8264}" presName="root2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31B81D4C-E68F-4C1F-BF69-649BADD4ACD5}" type="pres">
      <dgm:prSet presAssocID="{23E9346B-C064-4E37-9E7B-DF99C8CE8264}" presName="LevelTwoTextNode" presStyleLbl="node2" presStyleIdx="1" presStyleCnt="2" custScaleX="153897" custScaleY="122993" custLinFactNeighborX="17392" custLinFactNeighborY="402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893D399-38E2-45BF-9B3A-5A9DC23EA5C1}" type="pres">
      <dgm:prSet presAssocID="{23E9346B-C064-4E37-9E7B-DF99C8CE8264}" presName="level3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677A13DF-4EE3-49F6-85AF-D1B5946BB7CF}" type="pres">
      <dgm:prSet presAssocID="{5036D244-7B88-4AE4-8AC6-8E4453E97422}" presName="conn2-1" presStyleLbl="parChTrans1D3" presStyleIdx="4" presStyleCnt="6"/>
      <dgm:spPr/>
      <dgm:t>
        <a:bodyPr/>
        <a:lstStyle/>
        <a:p>
          <a:endParaRPr lang="ru-RU"/>
        </a:p>
      </dgm:t>
    </dgm:pt>
    <dgm:pt modelId="{F89BB5A9-85AC-4017-89DE-B5F736C2CEF1}" type="pres">
      <dgm:prSet presAssocID="{5036D244-7B88-4AE4-8AC6-8E4453E97422}" presName="connTx" presStyleLbl="parChTrans1D3" presStyleIdx="4" presStyleCnt="6"/>
      <dgm:spPr/>
      <dgm:t>
        <a:bodyPr/>
        <a:lstStyle/>
        <a:p>
          <a:endParaRPr lang="ru-RU"/>
        </a:p>
      </dgm:t>
    </dgm:pt>
    <dgm:pt modelId="{13FEF0C6-5B9F-44C2-B382-DCCD051D6F71}" type="pres">
      <dgm:prSet presAssocID="{EE4488F1-754F-49F2-8E77-860CB36679F2}" presName="root2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D98DD52D-C396-4FF8-BB2D-B16DE37D851F}" type="pres">
      <dgm:prSet presAssocID="{EE4488F1-754F-49F2-8E77-860CB36679F2}" presName="LevelTwoTextNode" presStyleLbl="node3" presStyleIdx="4" presStyleCnt="6" custScaleX="288746" custLinFactNeighborX="-25264" custLinFactNeighborY="20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568C04B-E47D-49C6-831A-7E5A4DA665EF}" type="pres">
      <dgm:prSet presAssocID="{EE4488F1-754F-49F2-8E77-860CB36679F2}" presName="level3hierChild" presStyleCnt="0"/>
      <dgm:spPr>
        <a:scene3d>
          <a:camera prst="orthographicFront"/>
          <a:lightRig rig="threePt" dir="t"/>
        </a:scene3d>
        <a:sp3d>
          <a:bevelT w="139700" prst="cross"/>
        </a:sp3d>
      </dgm:spPr>
    </dgm:pt>
    <dgm:pt modelId="{8833B2E9-2B47-4557-A585-A2C4DD132319}" type="pres">
      <dgm:prSet presAssocID="{81145901-E790-4DAF-B330-33CACD16CE69}" presName="conn2-1" presStyleLbl="parChTrans1D3" presStyleIdx="5" presStyleCnt="6"/>
      <dgm:spPr/>
      <dgm:t>
        <a:bodyPr/>
        <a:lstStyle/>
        <a:p>
          <a:endParaRPr lang="ru-RU"/>
        </a:p>
      </dgm:t>
    </dgm:pt>
    <dgm:pt modelId="{2D92A44C-CD35-4155-BC9B-FA7CE48AFDD4}" type="pres">
      <dgm:prSet presAssocID="{81145901-E790-4DAF-B330-33CACD16CE69}" presName="connTx" presStyleLbl="parChTrans1D3" presStyleIdx="5" presStyleCnt="6"/>
      <dgm:spPr/>
      <dgm:t>
        <a:bodyPr/>
        <a:lstStyle/>
        <a:p>
          <a:endParaRPr lang="ru-RU"/>
        </a:p>
      </dgm:t>
    </dgm:pt>
    <dgm:pt modelId="{731B1DF6-4811-4308-8BB8-611673503557}" type="pres">
      <dgm:prSet presAssocID="{A2824B06-479E-4A20-AD07-153A7AC5E67D}" presName="root2" presStyleCnt="0"/>
      <dgm:spPr/>
    </dgm:pt>
    <dgm:pt modelId="{8D39A59E-007C-439C-AC63-DA4E96C4CBBD}" type="pres">
      <dgm:prSet presAssocID="{A2824B06-479E-4A20-AD07-153A7AC5E67D}" presName="LevelTwoTextNode" presStyleLbl="node3" presStyleIdx="5" presStyleCnt="6" custScaleX="288746" custLinFactNeighborX="-25264" custLinFactNeighborY="20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5BE7AD4-1430-4F8F-BA80-B279D601B61E}" type="pres">
      <dgm:prSet presAssocID="{A2824B06-479E-4A20-AD07-153A7AC5E67D}" presName="level3hierChild" presStyleCnt="0"/>
      <dgm:spPr/>
    </dgm:pt>
  </dgm:ptLst>
  <dgm:cxnLst>
    <dgm:cxn modelId="{61869AA6-A05B-4C0C-A8A4-D126ADAC338C}" type="presOf" srcId="{5036D244-7B88-4AE4-8AC6-8E4453E97422}" destId="{F89BB5A9-85AC-4017-89DE-B5F736C2CEF1}" srcOrd="1" destOrd="0" presId="urn:microsoft.com/office/officeart/2005/8/layout/hierarchy2"/>
    <dgm:cxn modelId="{0745C29D-9913-44F5-87CD-6C27B9DBAFE7}" srcId="{9018D79A-6B10-43FC-84EF-0168E0FE8760}" destId="{FB0457FA-1012-436A-AF55-29DA6876583B}" srcOrd="0" destOrd="0" parTransId="{9B4F5318-74F2-4FAA-9F7F-F56A523B588A}" sibTransId="{58EA836D-2072-41CD-B6F6-EC4D11E45BFF}"/>
    <dgm:cxn modelId="{D9112002-CD09-497A-9382-3EC15DA6D08A}" type="presOf" srcId="{9B4F5318-74F2-4FAA-9F7F-F56A523B588A}" destId="{249CA538-4EF6-4B69-B5E1-10F3FF6E38E1}" srcOrd="1" destOrd="0" presId="urn:microsoft.com/office/officeart/2005/8/layout/hierarchy2"/>
    <dgm:cxn modelId="{47BBDCBB-3F38-449A-918E-8BF8FFEC7989}" type="presOf" srcId="{9561CD54-CD1B-4346-A26E-A1BFB5806FAC}" destId="{4A1C3500-42C2-494E-B36D-A37AD5A45DAF}" srcOrd="0" destOrd="0" presId="urn:microsoft.com/office/officeart/2005/8/layout/hierarchy2"/>
    <dgm:cxn modelId="{296A882E-980B-4B78-A354-E18CDAE867A2}" type="presOf" srcId="{5036D244-7B88-4AE4-8AC6-8E4453E97422}" destId="{677A13DF-4EE3-49F6-85AF-D1B5946BB7CF}" srcOrd="0" destOrd="0" presId="urn:microsoft.com/office/officeart/2005/8/layout/hierarchy2"/>
    <dgm:cxn modelId="{1B14B2A3-6EAA-4ED7-9C26-422DEDAC935C}" type="presOf" srcId="{8CF82699-AFE6-4A70-B0D4-D3F420FA181F}" destId="{C674BC99-20ED-440D-8640-26608BDD4FAA}" srcOrd="0" destOrd="0" presId="urn:microsoft.com/office/officeart/2005/8/layout/hierarchy2"/>
    <dgm:cxn modelId="{055A5E39-0884-41E2-AD3F-CEAEB548A59B}" srcId="{FB0457FA-1012-436A-AF55-29DA6876583B}" destId="{E9BF069E-A649-4E9F-B21C-409BF6E4886D}" srcOrd="1" destOrd="0" parTransId="{9E6B82F5-1A9C-406E-83A9-6ABC25764732}" sibTransId="{7A60BCB4-C6E7-4FE5-A1E7-8B20F9F2A208}"/>
    <dgm:cxn modelId="{5EE0CD89-51CE-42E9-A59D-A5611461FA44}" type="presOf" srcId="{E9BF069E-A649-4E9F-B21C-409BF6E4886D}" destId="{CC21F0E7-688F-433A-AAD0-8468438F05AF}" srcOrd="0" destOrd="0" presId="urn:microsoft.com/office/officeart/2005/8/layout/hierarchy2"/>
    <dgm:cxn modelId="{FA81D7FF-9D96-4B74-AB44-AEDB8F593CFC}" srcId="{9018D79A-6B10-43FC-84EF-0168E0FE8760}" destId="{23E9346B-C064-4E37-9E7B-DF99C8CE8264}" srcOrd="1" destOrd="0" parTransId="{F1082CC7-16B0-49C2-82B7-EA0148FA34F1}" sibTransId="{D35257FB-20B4-4F31-8062-FA6682BF7203}"/>
    <dgm:cxn modelId="{B30FDEF8-0307-4BDE-BB1C-3252B9C03565}" type="presOf" srcId="{38F3A1EA-02AB-499C-A2C9-94B0CDEEBAD7}" destId="{DF46E499-5BF7-4F2E-89CC-32114810A302}" srcOrd="0" destOrd="0" presId="urn:microsoft.com/office/officeart/2005/8/layout/hierarchy2"/>
    <dgm:cxn modelId="{6281A2C1-8F80-41FE-AF65-9C178EAFD022}" type="presOf" srcId="{9B4F5318-74F2-4FAA-9F7F-F56A523B588A}" destId="{74A23BED-DD60-47D3-BDE2-280718208519}" srcOrd="0" destOrd="0" presId="urn:microsoft.com/office/officeart/2005/8/layout/hierarchy2"/>
    <dgm:cxn modelId="{D7C32F55-0A25-477B-87AA-39C336C34BA7}" type="presOf" srcId="{9E6B82F5-1A9C-406E-83A9-6ABC25764732}" destId="{9F1F03B1-A293-40A0-87F1-A9C3F49B3AD7}" srcOrd="1" destOrd="0" presId="urn:microsoft.com/office/officeart/2005/8/layout/hierarchy2"/>
    <dgm:cxn modelId="{B0E7C107-FA49-4D26-AED4-5EBDB7C0961E}" type="presOf" srcId="{9018D79A-6B10-43FC-84EF-0168E0FE8760}" destId="{F519B767-3174-49D5-AD3F-232723D9C07D}" srcOrd="0" destOrd="0" presId="urn:microsoft.com/office/officeart/2005/8/layout/hierarchy2"/>
    <dgm:cxn modelId="{42DDB98E-A562-424C-B73A-937E0958AFAC}" type="presOf" srcId="{38F3A1EA-02AB-499C-A2C9-94B0CDEEBAD7}" destId="{555DB24D-944F-4726-9C52-64113BF731B0}" srcOrd="1" destOrd="0" presId="urn:microsoft.com/office/officeart/2005/8/layout/hierarchy2"/>
    <dgm:cxn modelId="{57535499-2274-4025-A7C3-B4DD301C1E2A}" type="presOf" srcId="{81145901-E790-4DAF-B330-33CACD16CE69}" destId="{2D92A44C-CD35-4155-BC9B-FA7CE48AFDD4}" srcOrd="1" destOrd="0" presId="urn:microsoft.com/office/officeart/2005/8/layout/hierarchy2"/>
    <dgm:cxn modelId="{3543A094-F629-46BF-AF1D-1B022ADC4797}" type="presOf" srcId="{576B73BC-BCA6-49EC-8238-9C3D2AF617BB}" destId="{DB8521B9-042F-4032-9C1E-CA8E9C7A929F}" srcOrd="0" destOrd="0" presId="urn:microsoft.com/office/officeart/2005/8/layout/hierarchy2"/>
    <dgm:cxn modelId="{1028C2FE-E19D-41D1-AC2D-431BB320DB95}" type="presOf" srcId="{81145901-E790-4DAF-B330-33CACD16CE69}" destId="{8833B2E9-2B47-4557-A585-A2C4DD132319}" srcOrd="0" destOrd="0" presId="urn:microsoft.com/office/officeart/2005/8/layout/hierarchy2"/>
    <dgm:cxn modelId="{D5A0283C-9F14-4588-A365-D715FF4E53C0}" srcId="{8CF82699-AFE6-4A70-B0D4-D3F420FA181F}" destId="{9018D79A-6B10-43FC-84EF-0168E0FE8760}" srcOrd="0" destOrd="0" parTransId="{777A9DDF-0D80-4F59-9BDC-6E5397A9B915}" sibTransId="{37A1B036-5785-47A1-BB70-12C3C6E0874C}"/>
    <dgm:cxn modelId="{356196C1-DA6B-44CF-90CA-75A010838C39}" type="presOf" srcId="{23E9346B-C064-4E37-9E7B-DF99C8CE8264}" destId="{31B81D4C-E68F-4C1F-BF69-649BADD4ACD5}" srcOrd="0" destOrd="0" presId="urn:microsoft.com/office/officeart/2005/8/layout/hierarchy2"/>
    <dgm:cxn modelId="{F1520C68-98CD-4519-B84E-A75F9F0015A1}" type="presOf" srcId="{CE7AE11A-BE5F-49BD-A617-7BEF3D2D581E}" destId="{44FBB70D-5C5C-4326-9068-D5CE7D1933A4}" srcOrd="0" destOrd="0" presId="urn:microsoft.com/office/officeart/2005/8/layout/hierarchy2"/>
    <dgm:cxn modelId="{61A007F0-88E5-4749-A67A-9AE7B0E4B9B8}" type="presOf" srcId="{50F6D777-8A9C-4728-9953-B6BED08E2A3D}" destId="{B422B74F-3CAF-443D-AFB1-1391DE41AFF5}" srcOrd="1" destOrd="0" presId="urn:microsoft.com/office/officeart/2005/8/layout/hierarchy2"/>
    <dgm:cxn modelId="{044A4A6D-B30F-473F-B534-F3E488830FCC}" type="presOf" srcId="{A2824B06-479E-4A20-AD07-153A7AC5E67D}" destId="{8D39A59E-007C-439C-AC63-DA4E96C4CBBD}" srcOrd="0" destOrd="0" presId="urn:microsoft.com/office/officeart/2005/8/layout/hierarchy2"/>
    <dgm:cxn modelId="{65D75525-2EDA-4832-B553-AEEEE7E14B7E}" type="presOf" srcId="{9E6B82F5-1A9C-406E-83A9-6ABC25764732}" destId="{0A36825E-3E88-447D-8890-47D6E502D53E}" srcOrd="0" destOrd="0" presId="urn:microsoft.com/office/officeart/2005/8/layout/hierarchy2"/>
    <dgm:cxn modelId="{2BB084B7-FA28-415E-BACE-859984BD27B6}" type="presOf" srcId="{CE7AE11A-BE5F-49BD-A617-7BEF3D2D581E}" destId="{C6F228B0-D195-4773-8860-09B11DB455FB}" srcOrd="1" destOrd="0" presId="urn:microsoft.com/office/officeart/2005/8/layout/hierarchy2"/>
    <dgm:cxn modelId="{0B1E5D13-62A3-4546-979F-E6D131537095}" srcId="{23E9346B-C064-4E37-9E7B-DF99C8CE8264}" destId="{EE4488F1-754F-49F2-8E77-860CB36679F2}" srcOrd="0" destOrd="0" parTransId="{5036D244-7B88-4AE4-8AC6-8E4453E97422}" sibTransId="{A0D59E2F-1822-4C75-8078-CE842524682F}"/>
    <dgm:cxn modelId="{54C46667-4492-4E79-81C2-338F95B29156}" type="presOf" srcId="{EE4488F1-754F-49F2-8E77-860CB36679F2}" destId="{D98DD52D-C396-4FF8-BB2D-B16DE37D851F}" srcOrd="0" destOrd="0" presId="urn:microsoft.com/office/officeart/2005/8/layout/hierarchy2"/>
    <dgm:cxn modelId="{6134E8A9-7B5B-42D9-A867-3E8D8C33EBDF}" srcId="{23E9346B-C064-4E37-9E7B-DF99C8CE8264}" destId="{A2824B06-479E-4A20-AD07-153A7AC5E67D}" srcOrd="1" destOrd="0" parTransId="{81145901-E790-4DAF-B330-33CACD16CE69}" sibTransId="{1731A59F-0403-494B-9EC7-B035973D0FF0}"/>
    <dgm:cxn modelId="{7113F352-44B2-4989-8C84-CF52877549A1}" type="presOf" srcId="{65C2EAD3-336A-40E2-9147-708553995C91}" destId="{B8DC1B8C-9A84-4357-A02C-D772707D4A17}" srcOrd="0" destOrd="0" presId="urn:microsoft.com/office/officeart/2005/8/layout/hierarchy2"/>
    <dgm:cxn modelId="{363A5D6E-CBD0-45B1-8AB9-6B78CA3B048F}" srcId="{FB0457FA-1012-436A-AF55-29DA6876583B}" destId="{65C2EAD3-336A-40E2-9147-708553995C91}" srcOrd="3" destOrd="0" parTransId="{CE7AE11A-BE5F-49BD-A617-7BEF3D2D581E}" sibTransId="{681E56E6-2216-4C67-A3E2-5F39F45F96F9}"/>
    <dgm:cxn modelId="{AA61B12D-A3CE-45BF-BEAA-F1623A9D7ADB}" type="presOf" srcId="{F1082CC7-16B0-49C2-82B7-EA0148FA34F1}" destId="{9AA11308-0D10-4B85-8D82-CDA53E3C3FD6}" srcOrd="0" destOrd="0" presId="urn:microsoft.com/office/officeart/2005/8/layout/hierarchy2"/>
    <dgm:cxn modelId="{C653C3B2-93C5-44C9-875C-E0760640221E}" type="presOf" srcId="{FB0457FA-1012-436A-AF55-29DA6876583B}" destId="{C1BFACC0-1943-4345-ACF8-E5CF97506A40}" srcOrd="0" destOrd="0" presId="urn:microsoft.com/office/officeart/2005/8/layout/hierarchy2"/>
    <dgm:cxn modelId="{7B9F2113-BF9B-4A7B-8C61-C81BF5566DC1}" type="presOf" srcId="{50F6D777-8A9C-4728-9953-B6BED08E2A3D}" destId="{73F2A181-B824-417E-8824-BDCD86E577CB}" srcOrd="0" destOrd="0" presId="urn:microsoft.com/office/officeart/2005/8/layout/hierarchy2"/>
    <dgm:cxn modelId="{BAFDEE0D-DB5C-4717-90AE-705012A18AB1}" type="presOf" srcId="{F1082CC7-16B0-49C2-82B7-EA0148FA34F1}" destId="{7C0F3913-7768-4BE0-8A28-6B54339EEE85}" srcOrd="1" destOrd="0" presId="urn:microsoft.com/office/officeart/2005/8/layout/hierarchy2"/>
    <dgm:cxn modelId="{D4ACFD62-ABDF-4A14-86FB-667C7A87FFD3}" srcId="{FB0457FA-1012-436A-AF55-29DA6876583B}" destId="{576B73BC-BCA6-49EC-8238-9C3D2AF617BB}" srcOrd="2" destOrd="0" parTransId="{50F6D777-8A9C-4728-9953-B6BED08E2A3D}" sibTransId="{6FEB7157-FE1F-42E0-A8CD-E6258866552D}"/>
    <dgm:cxn modelId="{E3CDC39E-B363-4349-9B26-D0A2374BB6AF}" srcId="{FB0457FA-1012-436A-AF55-29DA6876583B}" destId="{9561CD54-CD1B-4346-A26E-A1BFB5806FAC}" srcOrd="0" destOrd="0" parTransId="{38F3A1EA-02AB-499C-A2C9-94B0CDEEBAD7}" sibTransId="{BADF9693-93BD-49EC-A63B-FD46CA30FBC6}"/>
    <dgm:cxn modelId="{37D631F4-DF9A-4F27-A5F3-02BBBF593A9A}" type="presParOf" srcId="{C674BC99-20ED-440D-8640-26608BDD4FAA}" destId="{FD1B8A5E-404D-4A6A-AB37-8B063761F145}" srcOrd="0" destOrd="0" presId="urn:microsoft.com/office/officeart/2005/8/layout/hierarchy2"/>
    <dgm:cxn modelId="{326158DF-E191-4E3A-95C3-37A29058088B}" type="presParOf" srcId="{FD1B8A5E-404D-4A6A-AB37-8B063761F145}" destId="{F519B767-3174-49D5-AD3F-232723D9C07D}" srcOrd="0" destOrd="0" presId="urn:microsoft.com/office/officeart/2005/8/layout/hierarchy2"/>
    <dgm:cxn modelId="{665FFC3B-AF2A-4458-9F36-54A2AFBA116A}" type="presParOf" srcId="{FD1B8A5E-404D-4A6A-AB37-8B063761F145}" destId="{F752BAB5-715A-45A4-B2F2-698F97608E4D}" srcOrd="1" destOrd="0" presId="urn:microsoft.com/office/officeart/2005/8/layout/hierarchy2"/>
    <dgm:cxn modelId="{7D5B8F03-BB69-40C9-8105-5B4596C5E3AB}" type="presParOf" srcId="{F752BAB5-715A-45A4-B2F2-698F97608E4D}" destId="{74A23BED-DD60-47D3-BDE2-280718208519}" srcOrd="0" destOrd="0" presId="urn:microsoft.com/office/officeart/2005/8/layout/hierarchy2"/>
    <dgm:cxn modelId="{F612BDB1-8C26-4F9B-8520-1543DD2DDE85}" type="presParOf" srcId="{74A23BED-DD60-47D3-BDE2-280718208519}" destId="{249CA538-4EF6-4B69-B5E1-10F3FF6E38E1}" srcOrd="0" destOrd="0" presId="urn:microsoft.com/office/officeart/2005/8/layout/hierarchy2"/>
    <dgm:cxn modelId="{483260AA-1491-4C3E-8770-6DBBB6D4C753}" type="presParOf" srcId="{F752BAB5-715A-45A4-B2F2-698F97608E4D}" destId="{B6D3365E-4092-4E4A-B4CF-BB97E3F43B31}" srcOrd="1" destOrd="0" presId="urn:microsoft.com/office/officeart/2005/8/layout/hierarchy2"/>
    <dgm:cxn modelId="{5779E33C-93D5-4569-88F2-53FDD04234C7}" type="presParOf" srcId="{B6D3365E-4092-4E4A-B4CF-BB97E3F43B31}" destId="{C1BFACC0-1943-4345-ACF8-E5CF97506A40}" srcOrd="0" destOrd="0" presId="urn:microsoft.com/office/officeart/2005/8/layout/hierarchy2"/>
    <dgm:cxn modelId="{DD72AC75-C908-4DB1-A04B-0041EAAD19C1}" type="presParOf" srcId="{B6D3365E-4092-4E4A-B4CF-BB97E3F43B31}" destId="{D94B08AE-5325-491B-A50B-19978DE05E43}" srcOrd="1" destOrd="0" presId="urn:microsoft.com/office/officeart/2005/8/layout/hierarchy2"/>
    <dgm:cxn modelId="{E76ACBEE-6F29-413B-8D14-61173C3D001B}" type="presParOf" srcId="{D94B08AE-5325-491B-A50B-19978DE05E43}" destId="{DF46E499-5BF7-4F2E-89CC-32114810A302}" srcOrd="0" destOrd="0" presId="urn:microsoft.com/office/officeart/2005/8/layout/hierarchy2"/>
    <dgm:cxn modelId="{FC60FFB1-CC3B-44A4-B68A-34BB6F845962}" type="presParOf" srcId="{DF46E499-5BF7-4F2E-89CC-32114810A302}" destId="{555DB24D-944F-4726-9C52-64113BF731B0}" srcOrd="0" destOrd="0" presId="urn:microsoft.com/office/officeart/2005/8/layout/hierarchy2"/>
    <dgm:cxn modelId="{AA60291F-A4D1-406B-97A8-D955F2B36AE5}" type="presParOf" srcId="{D94B08AE-5325-491B-A50B-19978DE05E43}" destId="{1C14AAB6-80E8-40DE-A990-C2CD17FC31C7}" srcOrd="1" destOrd="0" presId="urn:microsoft.com/office/officeart/2005/8/layout/hierarchy2"/>
    <dgm:cxn modelId="{DF53DD6B-ED42-4D63-87D6-FA6316FCECB7}" type="presParOf" srcId="{1C14AAB6-80E8-40DE-A990-C2CD17FC31C7}" destId="{4A1C3500-42C2-494E-B36D-A37AD5A45DAF}" srcOrd="0" destOrd="0" presId="urn:microsoft.com/office/officeart/2005/8/layout/hierarchy2"/>
    <dgm:cxn modelId="{7EEE749B-D6E0-496B-BA3E-F97C03495FBB}" type="presParOf" srcId="{1C14AAB6-80E8-40DE-A990-C2CD17FC31C7}" destId="{F640041B-F201-4AD4-BA7E-FAA3279B4CDA}" srcOrd="1" destOrd="0" presId="urn:microsoft.com/office/officeart/2005/8/layout/hierarchy2"/>
    <dgm:cxn modelId="{C2157937-2A2F-4353-8041-6BD58B912A0C}" type="presParOf" srcId="{D94B08AE-5325-491B-A50B-19978DE05E43}" destId="{0A36825E-3E88-447D-8890-47D6E502D53E}" srcOrd="2" destOrd="0" presId="urn:microsoft.com/office/officeart/2005/8/layout/hierarchy2"/>
    <dgm:cxn modelId="{0CAE9FE7-384C-412F-A021-A75DB795CCEA}" type="presParOf" srcId="{0A36825E-3E88-447D-8890-47D6E502D53E}" destId="{9F1F03B1-A293-40A0-87F1-A9C3F49B3AD7}" srcOrd="0" destOrd="0" presId="urn:microsoft.com/office/officeart/2005/8/layout/hierarchy2"/>
    <dgm:cxn modelId="{33A72B85-8A29-41CD-AD82-AD58464C458C}" type="presParOf" srcId="{D94B08AE-5325-491B-A50B-19978DE05E43}" destId="{DD78AC38-5FB6-4B75-BF24-F82F92446AB3}" srcOrd="3" destOrd="0" presId="urn:microsoft.com/office/officeart/2005/8/layout/hierarchy2"/>
    <dgm:cxn modelId="{75505BEE-1258-42CB-A379-55A940891252}" type="presParOf" srcId="{DD78AC38-5FB6-4B75-BF24-F82F92446AB3}" destId="{CC21F0E7-688F-433A-AAD0-8468438F05AF}" srcOrd="0" destOrd="0" presId="urn:microsoft.com/office/officeart/2005/8/layout/hierarchy2"/>
    <dgm:cxn modelId="{9ACE570D-D4CF-4376-88A0-0B725C699357}" type="presParOf" srcId="{DD78AC38-5FB6-4B75-BF24-F82F92446AB3}" destId="{F0A7E3C1-C648-49FF-B73D-A03B5DAB1B3C}" srcOrd="1" destOrd="0" presId="urn:microsoft.com/office/officeart/2005/8/layout/hierarchy2"/>
    <dgm:cxn modelId="{99BC1BA6-C836-43E9-B528-7C7311D9AC7B}" type="presParOf" srcId="{D94B08AE-5325-491B-A50B-19978DE05E43}" destId="{73F2A181-B824-417E-8824-BDCD86E577CB}" srcOrd="4" destOrd="0" presId="urn:microsoft.com/office/officeart/2005/8/layout/hierarchy2"/>
    <dgm:cxn modelId="{92D13ADD-5325-4854-A269-449C9324908C}" type="presParOf" srcId="{73F2A181-B824-417E-8824-BDCD86E577CB}" destId="{B422B74F-3CAF-443D-AFB1-1391DE41AFF5}" srcOrd="0" destOrd="0" presId="urn:microsoft.com/office/officeart/2005/8/layout/hierarchy2"/>
    <dgm:cxn modelId="{9537AA2A-9E0D-4B73-8C7B-898C6CE711F8}" type="presParOf" srcId="{D94B08AE-5325-491B-A50B-19978DE05E43}" destId="{7A6C5829-3690-46C1-8898-5622813014EF}" srcOrd="5" destOrd="0" presId="urn:microsoft.com/office/officeart/2005/8/layout/hierarchy2"/>
    <dgm:cxn modelId="{8D6A2AE5-86A6-44AC-B992-F4D7C9AF4DD0}" type="presParOf" srcId="{7A6C5829-3690-46C1-8898-5622813014EF}" destId="{DB8521B9-042F-4032-9C1E-CA8E9C7A929F}" srcOrd="0" destOrd="0" presId="urn:microsoft.com/office/officeart/2005/8/layout/hierarchy2"/>
    <dgm:cxn modelId="{031C258C-0636-495C-8641-EABD5D6D9195}" type="presParOf" srcId="{7A6C5829-3690-46C1-8898-5622813014EF}" destId="{72AB70A2-0F8F-4AED-8BFC-98B9AD969DD3}" srcOrd="1" destOrd="0" presId="urn:microsoft.com/office/officeart/2005/8/layout/hierarchy2"/>
    <dgm:cxn modelId="{16D15113-8596-4658-9118-7D58765E5CFE}" type="presParOf" srcId="{D94B08AE-5325-491B-A50B-19978DE05E43}" destId="{44FBB70D-5C5C-4326-9068-D5CE7D1933A4}" srcOrd="6" destOrd="0" presId="urn:microsoft.com/office/officeart/2005/8/layout/hierarchy2"/>
    <dgm:cxn modelId="{E6E81555-9511-489C-8051-4E3ED0ADFD48}" type="presParOf" srcId="{44FBB70D-5C5C-4326-9068-D5CE7D1933A4}" destId="{C6F228B0-D195-4773-8860-09B11DB455FB}" srcOrd="0" destOrd="0" presId="urn:microsoft.com/office/officeart/2005/8/layout/hierarchy2"/>
    <dgm:cxn modelId="{C9967446-8E13-476B-A3D9-5D18977AAB6D}" type="presParOf" srcId="{D94B08AE-5325-491B-A50B-19978DE05E43}" destId="{66F94B07-8169-404F-99A2-D1528CD5EC21}" srcOrd="7" destOrd="0" presId="urn:microsoft.com/office/officeart/2005/8/layout/hierarchy2"/>
    <dgm:cxn modelId="{0203B42F-BC5E-4D75-9697-1897C041694B}" type="presParOf" srcId="{66F94B07-8169-404F-99A2-D1528CD5EC21}" destId="{B8DC1B8C-9A84-4357-A02C-D772707D4A17}" srcOrd="0" destOrd="0" presId="urn:microsoft.com/office/officeart/2005/8/layout/hierarchy2"/>
    <dgm:cxn modelId="{96CAFA6F-BD1E-4831-A4F6-8F39035EA48C}" type="presParOf" srcId="{66F94B07-8169-404F-99A2-D1528CD5EC21}" destId="{89A078C2-418E-44D8-A7A2-3325329F503B}" srcOrd="1" destOrd="0" presId="urn:microsoft.com/office/officeart/2005/8/layout/hierarchy2"/>
    <dgm:cxn modelId="{53B681BF-2E7A-4C93-B13D-6F51A7F1BFD1}" type="presParOf" srcId="{F752BAB5-715A-45A4-B2F2-698F97608E4D}" destId="{9AA11308-0D10-4B85-8D82-CDA53E3C3FD6}" srcOrd="2" destOrd="0" presId="urn:microsoft.com/office/officeart/2005/8/layout/hierarchy2"/>
    <dgm:cxn modelId="{27F11C8F-E866-41E8-9FD4-28E54775AB9A}" type="presParOf" srcId="{9AA11308-0D10-4B85-8D82-CDA53E3C3FD6}" destId="{7C0F3913-7768-4BE0-8A28-6B54339EEE85}" srcOrd="0" destOrd="0" presId="urn:microsoft.com/office/officeart/2005/8/layout/hierarchy2"/>
    <dgm:cxn modelId="{2E99C71F-4968-406E-9202-5854588FF7CA}" type="presParOf" srcId="{F752BAB5-715A-45A4-B2F2-698F97608E4D}" destId="{C97D3026-FFED-4A23-9069-381661E9B715}" srcOrd="3" destOrd="0" presId="urn:microsoft.com/office/officeart/2005/8/layout/hierarchy2"/>
    <dgm:cxn modelId="{F9F576F2-67CB-4190-9530-C94B313AE30B}" type="presParOf" srcId="{C97D3026-FFED-4A23-9069-381661E9B715}" destId="{31B81D4C-E68F-4C1F-BF69-649BADD4ACD5}" srcOrd="0" destOrd="0" presId="urn:microsoft.com/office/officeart/2005/8/layout/hierarchy2"/>
    <dgm:cxn modelId="{BC59CF83-B826-41AA-81B4-A2649A36083B}" type="presParOf" srcId="{C97D3026-FFED-4A23-9069-381661E9B715}" destId="{A893D399-38E2-45BF-9B3A-5A9DC23EA5C1}" srcOrd="1" destOrd="0" presId="urn:microsoft.com/office/officeart/2005/8/layout/hierarchy2"/>
    <dgm:cxn modelId="{558BB128-06E0-42B1-99D1-9CB2FE681393}" type="presParOf" srcId="{A893D399-38E2-45BF-9B3A-5A9DC23EA5C1}" destId="{677A13DF-4EE3-49F6-85AF-D1B5946BB7CF}" srcOrd="0" destOrd="0" presId="urn:microsoft.com/office/officeart/2005/8/layout/hierarchy2"/>
    <dgm:cxn modelId="{243F4DAA-2442-4DCB-BD32-ED9695972131}" type="presParOf" srcId="{677A13DF-4EE3-49F6-85AF-D1B5946BB7CF}" destId="{F89BB5A9-85AC-4017-89DE-B5F736C2CEF1}" srcOrd="0" destOrd="0" presId="urn:microsoft.com/office/officeart/2005/8/layout/hierarchy2"/>
    <dgm:cxn modelId="{987C64D0-50DA-403D-9CD7-16162A8E6AE6}" type="presParOf" srcId="{A893D399-38E2-45BF-9B3A-5A9DC23EA5C1}" destId="{13FEF0C6-5B9F-44C2-B382-DCCD051D6F71}" srcOrd="1" destOrd="0" presId="urn:microsoft.com/office/officeart/2005/8/layout/hierarchy2"/>
    <dgm:cxn modelId="{FD0E8C57-132F-4217-8B19-15D057013775}" type="presParOf" srcId="{13FEF0C6-5B9F-44C2-B382-DCCD051D6F71}" destId="{D98DD52D-C396-4FF8-BB2D-B16DE37D851F}" srcOrd="0" destOrd="0" presId="urn:microsoft.com/office/officeart/2005/8/layout/hierarchy2"/>
    <dgm:cxn modelId="{48CA390A-EEFE-4253-A20D-4B6830F0F30B}" type="presParOf" srcId="{13FEF0C6-5B9F-44C2-B382-DCCD051D6F71}" destId="{F568C04B-E47D-49C6-831A-7E5A4DA665EF}" srcOrd="1" destOrd="0" presId="urn:microsoft.com/office/officeart/2005/8/layout/hierarchy2"/>
    <dgm:cxn modelId="{FCBC3441-0875-4EA8-B45F-AD07A2DC5712}" type="presParOf" srcId="{A893D399-38E2-45BF-9B3A-5A9DC23EA5C1}" destId="{8833B2E9-2B47-4557-A585-A2C4DD132319}" srcOrd="2" destOrd="0" presId="urn:microsoft.com/office/officeart/2005/8/layout/hierarchy2"/>
    <dgm:cxn modelId="{0313C02D-67E3-4E8F-8497-76F364553784}" type="presParOf" srcId="{8833B2E9-2B47-4557-A585-A2C4DD132319}" destId="{2D92A44C-CD35-4155-BC9B-FA7CE48AFDD4}" srcOrd="0" destOrd="0" presId="urn:microsoft.com/office/officeart/2005/8/layout/hierarchy2"/>
    <dgm:cxn modelId="{83FFCEB4-58C1-415A-8E07-E83F0E6A6672}" type="presParOf" srcId="{A893D399-38E2-45BF-9B3A-5A9DC23EA5C1}" destId="{731B1DF6-4811-4308-8BB8-611673503557}" srcOrd="3" destOrd="0" presId="urn:microsoft.com/office/officeart/2005/8/layout/hierarchy2"/>
    <dgm:cxn modelId="{4538ADEE-80EC-4327-929A-D4F2EA9CC807}" type="presParOf" srcId="{731B1DF6-4811-4308-8BB8-611673503557}" destId="{8D39A59E-007C-439C-AC63-DA4E96C4CBBD}" srcOrd="0" destOrd="0" presId="urn:microsoft.com/office/officeart/2005/8/layout/hierarchy2"/>
    <dgm:cxn modelId="{A6E9E5E5-384E-48B3-AAA0-9BBD64EA8C11}" type="presParOf" srcId="{731B1DF6-4811-4308-8BB8-611673503557}" destId="{95BE7AD4-1430-4F8F-BA80-B279D601B61E}" srcOrd="1" destOrd="0" presId="urn:microsoft.com/office/officeart/2005/8/layout/hierarchy2"/>
  </dgm:cxnLst>
  <dgm:bg>
    <a:noFill/>
    <a:effectLst>
      <a:glow rad="63500">
        <a:schemeClr val="accent5">
          <a:satMod val="175000"/>
          <a:alpha val="40000"/>
        </a:schemeClr>
      </a:glow>
      <a:outerShdw blurRad="50800" dist="38100" dir="5400000" sx="187000" sy="187000" algn="t" rotWithShape="0">
        <a:prstClr val="black">
          <a:alpha val="39000"/>
        </a:prstClr>
      </a:outerShdw>
    </a:effectLst>
  </dgm:bg>
  <dgm:whole>
    <a:effectLst/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9B767-3174-49D5-AD3F-232723D9C07D}">
      <dsp:nvSpPr>
        <dsp:cNvPr id="0" name=""/>
        <dsp:cNvSpPr/>
      </dsp:nvSpPr>
      <dsp:spPr>
        <a:xfrm>
          <a:off x="9288765" y="2061408"/>
          <a:ext cx="2385396" cy="1233720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20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Қурилиш ишлар хажми</a:t>
          </a:r>
          <a:endParaRPr lang="ru-RU" sz="2000" kern="1200" dirty="0"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9324899" y="2097542"/>
        <a:ext cx="2313128" cy="1161452"/>
      </dsp:txXfrm>
    </dsp:sp>
    <dsp:sp modelId="{74A23BED-DD60-47D3-BDE2-280718208519}">
      <dsp:nvSpPr>
        <dsp:cNvPr id="0" name=""/>
        <dsp:cNvSpPr/>
      </dsp:nvSpPr>
      <dsp:spPr>
        <a:xfrm rot="15086713">
          <a:off x="8441551" y="2055344"/>
          <a:ext cx="1285399" cy="27263"/>
        </a:xfrm>
        <a:custGeom>
          <a:avLst/>
          <a:gdLst/>
          <a:ahLst/>
          <a:cxnLst/>
          <a:rect l="0" t="0" r="0" b="0"/>
          <a:pathLst>
            <a:path>
              <a:moveTo>
                <a:pt x="0" y="13631"/>
              </a:moveTo>
              <a:lnTo>
                <a:pt x="1285399" y="13631"/>
              </a:lnTo>
            </a:path>
          </a:pathLst>
        </a:custGeom>
        <a:noFill/>
        <a:ln w="28575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Cambria" pitchFamily="18" charset="0"/>
            <a:ea typeface="Cambria" pitchFamily="18" charset="0"/>
          </a:endParaRPr>
        </a:p>
      </dsp:txBody>
      <dsp:txXfrm rot="10800000">
        <a:off x="9052116" y="2036841"/>
        <a:ext cx="64269" cy="64269"/>
      </dsp:txXfrm>
    </dsp:sp>
    <dsp:sp modelId="{C1BFACC0-1943-4345-ACF8-E5CF97506A40}">
      <dsp:nvSpPr>
        <dsp:cNvPr id="0" name=""/>
        <dsp:cNvSpPr/>
      </dsp:nvSpPr>
      <dsp:spPr>
        <a:xfrm>
          <a:off x="6095542" y="767037"/>
          <a:ext cx="2784194" cy="138529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2800" b="1" u="sng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Юридик </a:t>
          </a:r>
          <a:br>
            <a:rPr lang="uz-Cyrl-UZ" sz="2800" b="1" u="sng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2800" b="1" u="sng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шахслар</a:t>
          </a:r>
          <a:endParaRPr lang="ru-RU" sz="2800" u="sng" kern="1200" dirty="0"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6136116" y="807611"/>
        <a:ext cx="2703046" cy="1304145"/>
      </dsp:txXfrm>
    </dsp:sp>
    <dsp:sp modelId="{DF46E499-5BF7-4F2E-89CC-32114810A302}">
      <dsp:nvSpPr>
        <dsp:cNvPr id="0" name=""/>
        <dsp:cNvSpPr/>
      </dsp:nvSpPr>
      <dsp:spPr>
        <a:xfrm rot="12372880">
          <a:off x="5027776" y="1197431"/>
          <a:ext cx="1125655" cy="27263"/>
        </a:xfrm>
        <a:custGeom>
          <a:avLst/>
          <a:gdLst/>
          <a:ahLst/>
          <a:cxnLst/>
          <a:rect l="0" t="0" r="0" b="0"/>
          <a:pathLst>
            <a:path>
              <a:moveTo>
                <a:pt x="0" y="13631"/>
              </a:moveTo>
              <a:lnTo>
                <a:pt x="1125655" y="13631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Cambria" pitchFamily="18" charset="0"/>
            <a:ea typeface="Cambria" pitchFamily="18" charset="0"/>
          </a:endParaRPr>
        </a:p>
      </dsp:txBody>
      <dsp:txXfrm rot="10800000">
        <a:off x="5562463" y="1182922"/>
        <a:ext cx="56282" cy="56282"/>
      </dsp:txXfrm>
    </dsp:sp>
    <dsp:sp modelId="{4A1C3500-42C2-494E-B36D-A37AD5A45DAF}">
      <dsp:nvSpPr>
        <dsp:cNvPr id="0" name=""/>
        <dsp:cNvSpPr/>
      </dsp:nvSpPr>
      <dsp:spPr>
        <a:xfrm>
          <a:off x="0" y="523508"/>
          <a:ext cx="5085666" cy="877868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uz-Cyrl-UZ" sz="18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Йирик корхона ва ташкилотлар</a:t>
          </a:r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uz-Cyrl-UZ" sz="1400" b="1" i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(сони 410 та, шундан, 205 таси бошқа соҳа)</a:t>
          </a:r>
          <a:r>
            <a:rPr lang="uz-Cyrl-UZ" sz="1400" b="1" i="1" kern="1200" dirty="0" smtClean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endParaRPr lang="ru-RU" sz="1400" b="1" i="1" kern="1200" dirty="0">
            <a:solidFill>
              <a:schemeClr val="bg2">
                <a:lumMod val="9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25712" y="549220"/>
        <a:ext cx="5034242" cy="826444"/>
      </dsp:txXfrm>
    </dsp:sp>
    <dsp:sp modelId="{0A36825E-3E88-447D-8890-47D6E502D53E}">
      <dsp:nvSpPr>
        <dsp:cNvPr id="0" name=""/>
        <dsp:cNvSpPr/>
      </dsp:nvSpPr>
      <dsp:spPr>
        <a:xfrm rot="9369413">
          <a:off x="5019403" y="1673253"/>
          <a:ext cx="1124107" cy="27263"/>
        </a:xfrm>
        <a:custGeom>
          <a:avLst/>
          <a:gdLst/>
          <a:ahLst/>
          <a:cxnLst/>
          <a:rect l="0" t="0" r="0" b="0"/>
          <a:pathLst>
            <a:path>
              <a:moveTo>
                <a:pt x="0" y="13631"/>
              </a:moveTo>
              <a:lnTo>
                <a:pt x="1124107" y="13631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Cambria" pitchFamily="18" charset="0"/>
            <a:ea typeface="Cambria" pitchFamily="18" charset="0"/>
          </a:endParaRPr>
        </a:p>
      </dsp:txBody>
      <dsp:txXfrm rot="10800000">
        <a:off x="5553354" y="1658782"/>
        <a:ext cx="56205" cy="56205"/>
      </dsp:txXfrm>
    </dsp:sp>
    <dsp:sp modelId="{CC21F0E7-688F-433A-AAD0-8468438F05AF}">
      <dsp:nvSpPr>
        <dsp:cNvPr id="0" name=""/>
        <dsp:cNvSpPr/>
      </dsp:nvSpPr>
      <dsp:spPr>
        <a:xfrm>
          <a:off x="0" y="1475152"/>
          <a:ext cx="5067371" cy="877868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Кичик корхона ва микрофирмалар</a:t>
          </a:r>
          <a: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/>
          </a:r>
          <a:br>
            <a:rPr 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r>
            <a:rPr lang="uz-Cyrl-UZ" sz="1400" b="1" i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(йиллик - сони 27 408 та, </a:t>
          </a:r>
          <a:br>
            <a:rPr lang="uz-Cyrl-UZ" sz="1400" b="1" i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400" b="1" i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чораклик – 16 950 та,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400" b="1" i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ойлик 3233 та)</a:t>
          </a:r>
          <a:endParaRPr lang="ru-RU" sz="1400" i="1" kern="1200" dirty="0">
            <a:solidFill>
              <a:schemeClr val="bg1"/>
            </a:solidFill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25712" y="1500864"/>
        <a:ext cx="5015947" cy="826444"/>
      </dsp:txXfrm>
    </dsp:sp>
    <dsp:sp modelId="{9AA11308-0D10-4B85-8D82-CDA53E3C3FD6}">
      <dsp:nvSpPr>
        <dsp:cNvPr id="0" name=""/>
        <dsp:cNvSpPr/>
      </dsp:nvSpPr>
      <dsp:spPr>
        <a:xfrm rot="6463280">
          <a:off x="8422934" y="3296922"/>
          <a:ext cx="1327566" cy="27263"/>
        </a:xfrm>
        <a:custGeom>
          <a:avLst/>
          <a:gdLst/>
          <a:ahLst/>
          <a:cxnLst/>
          <a:rect l="0" t="0" r="0" b="0"/>
          <a:pathLst>
            <a:path>
              <a:moveTo>
                <a:pt x="0" y="13631"/>
              </a:moveTo>
              <a:lnTo>
                <a:pt x="1327566" y="13631"/>
              </a:lnTo>
            </a:path>
          </a:pathLst>
        </a:custGeom>
        <a:noFill/>
        <a:ln w="28575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Cambria" pitchFamily="18" charset="0"/>
            <a:ea typeface="Cambria" pitchFamily="18" charset="0"/>
          </a:endParaRPr>
        </a:p>
      </dsp:txBody>
      <dsp:txXfrm rot="10800000">
        <a:off x="9053529" y="3277365"/>
        <a:ext cx="66378" cy="66378"/>
      </dsp:txXfrm>
    </dsp:sp>
    <dsp:sp modelId="{31B81D4C-E68F-4C1F-BF69-649BADD4ACD5}">
      <dsp:nvSpPr>
        <dsp:cNvPr id="0" name=""/>
        <dsp:cNvSpPr/>
      </dsp:nvSpPr>
      <dsp:spPr>
        <a:xfrm>
          <a:off x="6182645" y="3402981"/>
          <a:ext cx="2702025" cy="1079716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2800" b="1" u="sng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Жисмоний шахслар</a:t>
          </a:r>
          <a:endParaRPr lang="ru-RU" sz="2800" u="sng" kern="1200" dirty="0"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6214269" y="3434605"/>
        <a:ext cx="2638777" cy="1016468"/>
      </dsp:txXfrm>
    </dsp:sp>
    <dsp:sp modelId="{677A13DF-4EE3-49F6-85AF-D1B5946BB7CF}">
      <dsp:nvSpPr>
        <dsp:cNvPr id="0" name=""/>
        <dsp:cNvSpPr/>
      </dsp:nvSpPr>
      <dsp:spPr>
        <a:xfrm rot="13388506">
          <a:off x="4863434" y="3407671"/>
          <a:ext cx="1525395" cy="27263"/>
        </a:xfrm>
        <a:custGeom>
          <a:avLst/>
          <a:gdLst/>
          <a:ahLst/>
          <a:cxnLst/>
          <a:rect l="0" t="0" r="0" b="0"/>
          <a:pathLst>
            <a:path>
              <a:moveTo>
                <a:pt x="0" y="13631"/>
              </a:moveTo>
              <a:lnTo>
                <a:pt x="1525395" y="13631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Cambria" pitchFamily="18" charset="0"/>
            <a:ea typeface="Cambria" pitchFamily="18" charset="0"/>
          </a:endParaRPr>
        </a:p>
      </dsp:txBody>
      <dsp:txXfrm rot="10800000">
        <a:off x="5587997" y="3383168"/>
        <a:ext cx="76269" cy="76269"/>
      </dsp:txXfrm>
    </dsp:sp>
    <dsp:sp modelId="{D98DD52D-C396-4FF8-BB2D-B16DE37D851F}">
      <dsp:nvSpPr>
        <dsp:cNvPr id="0" name=""/>
        <dsp:cNvSpPr/>
      </dsp:nvSpPr>
      <dsp:spPr>
        <a:xfrm>
          <a:off x="0" y="2460831"/>
          <a:ext cx="5069618" cy="877868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Якка тартибдаги турар жой обеъктлари</a:t>
          </a:r>
          <a:b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r>
            <a:rPr lang="uz-Cyrl-UZ" sz="1600" b="1" i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(хар чоракда 14 та ҳудудий кадастр органлари)</a:t>
          </a:r>
          <a:r>
            <a:rPr lang="uz-Cyrl-UZ" sz="1600" b="1" i="1" kern="1200" dirty="0" smtClean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endParaRPr lang="ru-RU" sz="1600" i="1" kern="1200" dirty="0">
            <a:solidFill>
              <a:schemeClr val="bg2">
                <a:lumMod val="90000"/>
              </a:schemeClr>
            </a:solidFill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25712" y="2486543"/>
        <a:ext cx="5018194" cy="826444"/>
      </dsp:txXfrm>
    </dsp:sp>
    <dsp:sp modelId="{8833B2E9-2B47-4557-A585-A2C4DD132319}">
      <dsp:nvSpPr>
        <dsp:cNvPr id="0" name=""/>
        <dsp:cNvSpPr/>
      </dsp:nvSpPr>
      <dsp:spPr>
        <a:xfrm rot="10903518">
          <a:off x="5069366" y="3912445"/>
          <a:ext cx="1113531" cy="27263"/>
        </a:xfrm>
        <a:custGeom>
          <a:avLst/>
          <a:gdLst/>
          <a:ahLst/>
          <a:cxnLst/>
          <a:rect l="0" t="0" r="0" b="0"/>
          <a:pathLst>
            <a:path>
              <a:moveTo>
                <a:pt x="0" y="13631"/>
              </a:moveTo>
              <a:lnTo>
                <a:pt x="1113531" y="136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 rot="10800000">
        <a:off x="5598293" y="3898239"/>
        <a:ext cx="55676" cy="55676"/>
      </dsp:txXfrm>
    </dsp:sp>
    <dsp:sp modelId="{8D39A59E-007C-439C-AC63-DA4E96C4CBBD}">
      <dsp:nvSpPr>
        <dsp:cNvPr id="0" name=""/>
        <dsp:cNvSpPr/>
      </dsp:nvSpPr>
      <dsp:spPr>
        <a:xfrm>
          <a:off x="0" y="3470380"/>
          <a:ext cx="5069618" cy="877868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Якка тартибдаги нотурар жой объектлари</a:t>
          </a:r>
          <a:b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r>
            <a:rPr lang="uz-Cyrl-UZ" sz="1600" b="1" i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(хар чоракда 14 та ҳудудий кадастр органлари)</a:t>
          </a:r>
          <a:r>
            <a:rPr lang="uz-Cyrl-UZ" sz="1600" b="1" i="1" kern="1200" dirty="0" smtClean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endParaRPr lang="ru-RU" sz="1600" i="1" kern="1200" dirty="0">
            <a:solidFill>
              <a:schemeClr val="bg2">
                <a:lumMod val="90000"/>
              </a:schemeClr>
            </a:solidFill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25712" y="3496092"/>
        <a:ext cx="5018194" cy="826444"/>
      </dsp:txXfrm>
    </dsp:sp>
    <dsp:sp modelId="{26707DD9-72C4-4585-B0F9-DC79A59BA22A}">
      <dsp:nvSpPr>
        <dsp:cNvPr id="0" name=""/>
        <dsp:cNvSpPr/>
      </dsp:nvSpPr>
      <dsp:spPr>
        <a:xfrm rot="8378254">
          <a:off x="4897774" y="4401470"/>
          <a:ext cx="1458454" cy="27263"/>
        </a:xfrm>
        <a:custGeom>
          <a:avLst/>
          <a:gdLst/>
          <a:ahLst/>
          <a:cxnLst/>
          <a:rect l="0" t="0" r="0" b="0"/>
          <a:pathLst>
            <a:path>
              <a:moveTo>
                <a:pt x="0" y="13631"/>
              </a:moveTo>
              <a:lnTo>
                <a:pt x="1458454" y="13631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Cambria" pitchFamily="18" charset="0"/>
            <a:ea typeface="Cambria" pitchFamily="18" charset="0"/>
          </a:endParaRPr>
        </a:p>
      </dsp:txBody>
      <dsp:txXfrm rot="10800000">
        <a:off x="5590539" y="4378641"/>
        <a:ext cx="72922" cy="72922"/>
      </dsp:txXfrm>
    </dsp:sp>
    <dsp:sp modelId="{6706D457-0A9D-4508-AFA6-11321699BE2B}">
      <dsp:nvSpPr>
        <dsp:cNvPr id="0" name=""/>
        <dsp:cNvSpPr/>
      </dsp:nvSpPr>
      <dsp:spPr>
        <a:xfrm>
          <a:off x="0" y="4448430"/>
          <a:ext cx="5071357" cy="877868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Якка тартибдаги квартираларни таъмирлаш </a:t>
          </a:r>
          <a:b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600" b="1" i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(хар ойда)</a:t>
          </a:r>
          <a:endParaRPr lang="ru-RU" sz="1600" b="1" i="1" kern="1200" dirty="0" smtClean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25712" y="4474142"/>
        <a:ext cx="5019933" cy="8264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9B767-3174-49D5-AD3F-232723D9C07D}">
      <dsp:nvSpPr>
        <dsp:cNvPr id="0" name=""/>
        <dsp:cNvSpPr/>
      </dsp:nvSpPr>
      <dsp:spPr>
        <a:xfrm>
          <a:off x="9212318" y="2820487"/>
          <a:ext cx="2327777" cy="1203920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20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Асосий капиталга инвестициялар</a:t>
          </a:r>
          <a:endParaRPr lang="ru-RU" sz="2000" kern="1200" dirty="0"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9247580" y="2855749"/>
        <a:ext cx="2257253" cy="1133396"/>
      </dsp:txXfrm>
    </dsp:sp>
    <dsp:sp modelId="{74A23BED-DD60-47D3-BDE2-280718208519}">
      <dsp:nvSpPr>
        <dsp:cNvPr id="0" name=""/>
        <dsp:cNvSpPr/>
      </dsp:nvSpPr>
      <dsp:spPr>
        <a:xfrm rot="15252251">
          <a:off x="8263394" y="2691424"/>
          <a:ext cx="1491773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491773" y="13302"/>
              </a:lnTo>
            </a:path>
          </a:pathLst>
        </a:custGeom>
        <a:noFill/>
        <a:ln w="28575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Cambria" pitchFamily="18" charset="0"/>
            <a:ea typeface="Cambria" pitchFamily="18" charset="0"/>
          </a:endParaRPr>
        </a:p>
      </dsp:txBody>
      <dsp:txXfrm rot="10800000">
        <a:off x="8971986" y="2667433"/>
        <a:ext cx="74588" cy="74588"/>
      </dsp:txXfrm>
    </dsp:sp>
    <dsp:sp modelId="{C1BFACC0-1943-4345-ACF8-E5CF97506A40}">
      <dsp:nvSpPr>
        <dsp:cNvPr id="0" name=""/>
        <dsp:cNvSpPr/>
      </dsp:nvSpPr>
      <dsp:spPr>
        <a:xfrm>
          <a:off x="6089299" y="1311090"/>
          <a:ext cx="2716943" cy="1351832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2800" b="1" u="sng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Юридик </a:t>
          </a:r>
          <a:br>
            <a:rPr lang="uz-Cyrl-UZ" sz="2800" b="1" u="sng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2800" b="1" u="sng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шахслар</a:t>
          </a:r>
          <a:endParaRPr lang="ru-RU" sz="2800" u="sng" kern="1200" dirty="0"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6128893" y="1350684"/>
        <a:ext cx="2637755" cy="1272644"/>
      </dsp:txXfrm>
    </dsp:sp>
    <dsp:sp modelId="{DF46E499-5BF7-4F2E-89CC-32114810A302}">
      <dsp:nvSpPr>
        <dsp:cNvPr id="0" name=""/>
        <dsp:cNvSpPr/>
      </dsp:nvSpPr>
      <dsp:spPr>
        <a:xfrm rot="13952647">
          <a:off x="4599912" y="1238507"/>
          <a:ext cx="1852298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852298" y="13302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600" kern="1200">
            <a:latin typeface="Cambria" pitchFamily="18" charset="0"/>
            <a:ea typeface="Cambria" pitchFamily="18" charset="0"/>
          </a:endParaRPr>
        </a:p>
      </dsp:txBody>
      <dsp:txXfrm rot="10800000">
        <a:off x="5479754" y="1205502"/>
        <a:ext cx="92614" cy="92614"/>
      </dsp:txXfrm>
    </dsp:sp>
    <dsp:sp modelId="{4A1C3500-42C2-494E-B36D-A37AD5A45DAF}">
      <dsp:nvSpPr>
        <dsp:cNvPr id="0" name=""/>
        <dsp:cNvSpPr/>
      </dsp:nvSpPr>
      <dsp:spPr>
        <a:xfrm>
          <a:off x="0" y="88280"/>
          <a:ext cx="4962824" cy="85666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Йирик корхона ва ташкилотлар </a:t>
          </a:r>
          <a:r>
            <a:rPr lang="uz-Cyrl-UZ" sz="1600" b="1" i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(йиллик - сони 3362 та )</a:t>
          </a:r>
          <a:r>
            <a:rPr lang="uz-Cyrl-UZ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endParaRPr lang="uz-Cyrl-UZ" sz="1600" b="1" kern="1200" dirty="0" smtClean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25091" y="113371"/>
        <a:ext cx="4912642" cy="806481"/>
      </dsp:txXfrm>
    </dsp:sp>
    <dsp:sp modelId="{0A36825E-3E88-447D-8890-47D6E502D53E}">
      <dsp:nvSpPr>
        <dsp:cNvPr id="0" name=""/>
        <dsp:cNvSpPr/>
      </dsp:nvSpPr>
      <dsp:spPr>
        <a:xfrm rot="12320001">
          <a:off x="4884093" y="1702836"/>
          <a:ext cx="1266083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266083" y="13302"/>
              </a:lnTo>
            </a:path>
          </a:pathLst>
        </a:custGeom>
        <a:noFill/>
        <a:ln w="1905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Cambria" pitchFamily="18" charset="0"/>
            <a:ea typeface="Cambria" pitchFamily="18" charset="0"/>
          </a:endParaRPr>
        </a:p>
      </dsp:txBody>
      <dsp:txXfrm rot="10800000">
        <a:off x="5485483" y="1684486"/>
        <a:ext cx="63304" cy="63304"/>
      </dsp:txXfrm>
    </dsp:sp>
    <dsp:sp modelId="{CC21F0E7-688F-433A-AAD0-8468438F05AF}">
      <dsp:nvSpPr>
        <dsp:cNvPr id="0" name=""/>
        <dsp:cNvSpPr/>
      </dsp:nvSpPr>
      <dsp:spPr>
        <a:xfrm>
          <a:off x="0" y="1016938"/>
          <a:ext cx="4944971" cy="85666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Кичик корхона ва микрофирмалар </a:t>
          </a:r>
          <a:r>
            <a:rPr lang="uz-Cyrl-UZ" sz="1800" b="1" i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</a:t>
          </a:r>
          <a:r>
            <a:rPr lang="uz-Cyrl-UZ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йиллик - сони 18915 та, чораклик 2560 та) </a:t>
          </a:r>
          <a:endParaRPr lang="ru-RU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25091" y="1042029"/>
        <a:ext cx="4894789" cy="806481"/>
      </dsp:txXfrm>
    </dsp:sp>
    <dsp:sp modelId="{73F2A181-B824-417E-8824-BDCD86E577CB}">
      <dsp:nvSpPr>
        <dsp:cNvPr id="0" name=""/>
        <dsp:cNvSpPr/>
      </dsp:nvSpPr>
      <dsp:spPr>
        <a:xfrm rot="9529122">
          <a:off x="4903516" y="2195417"/>
          <a:ext cx="1227238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227238" y="133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 rot="10800000">
        <a:off x="5486454" y="2178039"/>
        <a:ext cx="61361" cy="61361"/>
      </dsp:txXfrm>
    </dsp:sp>
    <dsp:sp modelId="{DB8521B9-042F-4032-9C1E-CA8E9C7A929F}">
      <dsp:nvSpPr>
        <dsp:cNvPr id="0" name=""/>
        <dsp:cNvSpPr/>
      </dsp:nvSpPr>
      <dsp:spPr>
        <a:xfrm>
          <a:off x="0" y="2002101"/>
          <a:ext cx="4944971" cy="85666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Фермер хўжаликлари</a:t>
          </a:r>
          <a:r>
            <a:rPr lang="en-US" sz="2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/>
          </a:r>
          <a:br>
            <a:rPr lang="en-US" sz="2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2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r>
            <a:rPr lang="uz-Cyrl-UZ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(йиллик - сони 1311 та)</a:t>
          </a:r>
          <a:endParaRPr lang="ru-RU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25091" y="2027192"/>
        <a:ext cx="4894789" cy="806481"/>
      </dsp:txXfrm>
    </dsp:sp>
    <dsp:sp modelId="{44FBB70D-5C5C-4326-9068-D5CE7D1933A4}">
      <dsp:nvSpPr>
        <dsp:cNvPr id="0" name=""/>
        <dsp:cNvSpPr/>
      </dsp:nvSpPr>
      <dsp:spPr>
        <a:xfrm rot="7682394">
          <a:off x="4588614" y="2704991"/>
          <a:ext cx="1857043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857043" y="133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600" kern="1200"/>
        </a:p>
      </dsp:txBody>
      <dsp:txXfrm rot="10800000">
        <a:off x="5470709" y="2671867"/>
        <a:ext cx="92852" cy="92852"/>
      </dsp:txXfrm>
    </dsp:sp>
    <dsp:sp modelId="{B8DC1B8C-9A84-4357-A02C-D772707D4A17}">
      <dsp:nvSpPr>
        <dsp:cNvPr id="0" name=""/>
        <dsp:cNvSpPr/>
      </dsp:nvSpPr>
      <dsp:spPr>
        <a:xfrm>
          <a:off x="0" y="3021248"/>
          <a:ext cx="4944971" cy="85666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Нотижорат ташкилотлари</a:t>
          </a:r>
          <a:r>
            <a:rPr lang="en-US" sz="2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/>
          </a:r>
          <a:br>
            <a:rPr lang="en-US" sz="2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(йиллик - сони 4128 та) </a:t>
          </a:r>
          <a:endParaRPr lang="ru-RU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25091" y="3046339"/>
        <a:ext cx="4894789" cy="806481"/>
      </dsp:txXfrm>
    </dsp:sp>
    <dsp:sp modelId="{9AA11308-0D10-4B85-8D82-CDA53E3C3FD6}">
      <dsp:nvSpPr>
        <dsp:cNvPr id="0" name=""/>
        <dsp:cNvSpPr/>
      </dsp:nvSpPr>
      <dsp:spPr>
        <a:xfrm rot="6309984">
          <a:off x="8244819" y="4149303"/>
          <a:ext cx="1533736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533736" y="13302"/>
              </a:lnTo>
            </a:path>
          </a:pathLst>
        </a:custGeom>
        <a:noFill/>
        <a:ln w="28575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Cambria" pitchFamily="18" charset="0"/>
            <a:ea typeface="Cambria" pitchFamily="18" charset="0"/>
          </a:endParaRPr>
        </a:p>
      </dsp:txBody>
      <dsp:txXfrm rot="10800000">
        <a:off x="8973344" y="4124262"/>
        <a:ext cx="76686" cy="76686"/>
      </dsp:txXfrm>
    </dsp:sp>
    <dsp:sp modelId="{31B81D4C-E68F-4C1F-BF69-649BADD4ACD5}">
      <dsp:nvSpPr>
        <dsp:cNvPr id="0" name=""/>
        <dsp:cNvSpPr/>
      </dsp:nvSpPr>
      <dsp:spPr>
        <a:xfrm>
          <a:off x="6174298" y="4375946"/>
          <a:ext cx="2636759" cy="1053636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2800" b="1" u="sng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Жисмоний шахслар</a:t>
          </a:r>
          <a:endParaRPr lang="ru-RU" sz="2800" u="sng" kern="1200" dirty="0"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6205158" y="4406806"/>
        <a:ext cx="2575039" cy="991916"/>
      </dsp:txXfrm>
    </dsp:sp>
    <dsp:sp modelId="{677A13DF-4EE3-49F6-85AF-D1B5946BB7CF}">
      <dsp:nvSpPr>
        <dsp:cNvPr id="0" name=""/>
        <dsp:cNvSpPr/>
      </dsp:nvSpPr>
      <dsp:spPr>
        <a:xfrm rot="12190455">
          <a:off x="4893311" y="4626813"/>
          <a:ext cx="1334838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334838" y="13302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>
            <a:latin typeface="Cambria" pitchFamily="18" charset="0"/>
            <a:ea typeface="Cambria" pitchFamily="18" charset="0"/>
          </a:endParaRPr>
        </a:p>
      </dsp:txBody>
      <dsp:txXfrm rot="10800000">
        <a:off x="5527360" y="4606744"/>
        <a:ext cx="66741" cy="66741"/>
      </dsp:txXfrm>
    </dsp:sp>
    <dsp:sp modelId="{D98DD52D-C396-4FF8-BB2D-B16DE37D851F}">
      <dsp:nvSpPr>
        <dsp:cNvPr id="0" name=""/>
        <dsp:cNvSpPr/>
      </dsp:nvSpPr>
      <dsp:spPr>
        <a:xfrm>
          <a:off x="0" y="3949135"/>
          <a:ext cx="4947164" cy="856663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Якка тартибдаги турар жой обеъктлари</a:t>
          </a:r>
          <a:b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r>
            <a:rPr lang="uz-Cyrl-UZ" sz="1600" b="1" i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(хар чоракда 14 та ҳудудий кадастр органлари)</a:t>
          </a:r>
          <a:r>
            <a:rPr lang="uz-Cyrl-UZ" sz="1600" b="1" i="1" kern="1200" dirty="0" smtClean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endParaRPr lang="ru-RU" sz="1600" i="1" kern="1200" dirty="0">
            <a:solidFill>
              <a:schemeClr val="bg2">
                <a:lumMod val="90000"/>
              </a:schemeClr>
            </a:solidFill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25091" y="3974226"/>
        <a:ext cx="4896982" cy="806481"/>
      </dsp:txXfrm>
    </dsp:sp>
    <dsp:sp modelId="{8833B2E9-2B47-4557-A585-A2C4DD132319}">
      <dsp:nvSpPr>
        <dsp:cNvPr id="0" name=""/>
        <dsp:cNvSpPr/>
      </dsp:nvSpPr>
      <dsp:spPr>
        <a:xfrm rot="9567398">
          <a:off x="4905495" y="5119395"/>
          <a:ext cx="1310470" cy="26604"/>
        </a:xfrm>
        <a:custGeom>
          <a:avLst/>
          <a:gdLst/>
          <a:ahLst/>
          <a:cxnLst/>
          <a:rect l="0" t="0" r="0" b="0"/>
          <a:pathLst>
            <a:path>
              <a:moveTo>
                <a:pt x="0" y="13302"/>
              </a:moveTo>
              <a:lnTo>
                <a:pt x="1310470" y="133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 rot="10800000">
        <a:off x="5527969" y="5099935"/>
        <a:ext cx="65523" cy="65523"/>
      </dsp:txXfrm>
    </dsp:sp>
    <dsp:sp modelId="{8D39A59E-007C-439C-AC63-DA4E96C4CBBD}">
      <dsp:nvSpPr>
        <dsp:cNvPr id="0" name=""/>
        <dsp:cNvSpPr/>
      </dsp:nvSpPr>
      <dsp:spPr>
        <a:xfrm>
          <a:off x="0" y="4934298"/>
          <a:ext cx="4947164" cy="856663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 w="139700" prst="cross"/>
        </a:sp3d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Якка тартибдаги нотурар жой объектлари</a:t>
          </a:r>
          <a:b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</a:br>
          <a:r>
            <a:rPr lang="uz-Cyrl-UZ" sz="1600" b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r>
            <a:rPr lang="uz-Cyrl-UZ" sz="1600" b="1" i="1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(хар чоракда 14 та ҳудудий кадастр органлари)</a:t>
          </a:r>
          <a:r>
            <a:rPr lang="uz-Cyrl-UZ" sz="1600" b="1" i="1" kern="1200" dirty="0" smtClean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rPr>
            <a:t> </a:t>
          </a:r>
          <a:endParaRPr lang="ru-RU" sz="1600" i="1" kern="1200" dirty="0">
            <a:solidFill>
              <a:schemeClr val="bg2">
                <a:lumMod val="90000"/>
              </a:schemeClr>
            </a:solidFill>
            <a:latin typeface="Arial" panose="020B0604020202020204" pitchFamily="34" charset="0"/>
            <a:ea typeface="Cambria" pitchFamily="18" charset="0"/>
            <a:cs typeface="Arial" panose="020B0604020202020204" pitchFamily="34" charset="0"/>
          </a:endParaRPr>
        </a:p>
      </dsp:txBody>
      <dsp:txXfrm>
        <a:off x="25091" y="4959389"/>
        <a:ext cx="4896982" cy="8064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B567D-18D0-4AE1-9710-DBBD61F40A75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1588D-C680-4A20-9BA8-58E99256AAB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44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1588D-C680-4A20-9BA8-58E99256AABE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37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1588D-C680-4A20-9BA8-58E99256AABE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657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5438" y="665163"/>
            <a:ext cx="591185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d431007ba2_0_208:notes"/>
          <p:cNvSpPr txBox="1">
            <a:spLocks noGrp="1"/>
          </p:cNvSpPr>
          <p:nvPr>
            <p:ph type="body" idx="1"/>
          </p:nvPr>
        </p:nvSpPr>
        <p:spPr>
          <a:xfrm>
            <a:off x="656223" y="4212027"/>
            <a:ext cx="5249779" cy="3990341"/>
          </a:xfrm>
          <a:prstGeom prst="rect">
            <a:avLst/>
          </a:prstGeom>
        </p:spPr>
        <p:txBody>
          <a:bodyPr spcFirstLastPara="1" wrap="square" lIns="88170" tIns="88170" rIns="88170" bIns="881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9148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1588D-C680-4A20-9BA8-58E99256AABE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252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5438" y="665163"/>
            <a:ext cx="591185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d431007ba2_0_208:notes"/>
          <p:cNvSpPr txBox="1">
            <a:spLocks noGrp="1"/>
          </p:cNvSpPr>
          <p:nvPr>
            <p:ph type="body" idx="1"/>
          </p:nvPr>
        </p:nvSpPr>
        <p:spPr>
          <a:xfrm>
            <a:off x="656223" y="4212027"/>
            <a:ext cx="5249779" cy="3990341"/>
          </a:xfrm>
          <a:prstGeom prst="rect">
            <a:avLst/>
          </a:prstGeom>
        </p:spPr>
        <p:txBody>
          <a:bodyPr spcFirstLastPara="1" wrap="square" lIns="88170" tIns="88170" rIns="88170" bIns="88170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9779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1588D-C680-4A20-9BA8-58E99256AABE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1588D-C680-4A20-9BA8-58E99256AABE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E1588D-C680-4A20-9BA8-58E99256AABE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0080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2738-F1A4-4305-BF26-0717393D1ABA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0036-C1B8-4825-A89A-0C4844355E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405233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2738-F1A4-4305-BF26-0717393D1ABA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0036-C1B8-4825-A89A-0C4844355E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92514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2738-F1A4-4305-BF26-0717393D1ABA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0036-C1B8-4825-A89A-0C4844355E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544966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2738-F1A4-4305-BF26-0717393D1ABA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0036-C1B8-4825-A89A-0C4844355E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478679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2738-F1A4-4305-BF26-0717393D1ABA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0036-C1B8-4825-A89A-0C4844355E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938615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2738-F1A4-4305-BF26-0717393D1ABA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0036-C1B8-4825-A89A-0C4844355E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311670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2738-F1A4-4305-BF26-0717393D1ABA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0036-C1B8-4825-A89A-0C4844355E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37515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2738-F1A4-4305-BF26-0717393D1ABA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0036-C1B8-4825-A89A-0C4844355E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908147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2738-F1A4-4305-BF26-0717393D1ABA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0036-C1B8-4825-A89A-0C4844355E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970763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2738-F1A4-4305-BF26-0717393D1ABA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0036-C1B8-4825-A89A-0C4844355E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911686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2738-F1A4-4305-BF26-0717393D1ABA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0036-C1B8-4825-A89A-0C4844355E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76005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60000" y="162100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8" lvl="0" indent="-423318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56" lvl="1" indent="-42331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34" lvl="2" indent="-42331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12" lvl="3" indent="-42331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90" lvl="4" indent="-42331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68" lvl="5" indent="-42331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46" lvl="6" indent="-42331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25" lvl="7" indent="-42331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02" lvl="8" indent="-42331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8" name="Google Shape;18;p4"/>
          <p:cNvGrpSpPr/>
          <p:nvPr/>
        </p:nvGrpSpPr>
        <p:grpSpPr>
          <a:xfrm>
            <a:off x="-313949" y="0"/>
            <a:ext cx="12909533" cy="6626584"/>
            <a:chOff x="-235462" y="0"/>
            <a:chExt cx="9682150" cy="4969938"/>
          </a:xfrm>
        </p:grpSpPr>
        <p:sp>
          <p:nvSpPr>
            <p:cNvPr id="19" name="Google Shape;19;p4"/>
            <p:cNvSpPr/>
            <p:nvPr/>
          </p:nvSpPr>
          <p:spPr>
            <a:xfrm>
              <a:off x="8931288" y="0"/>
              <a:ext cx="515400" cy="446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8931288" y="446738"/>
              <a:ext cx="515400" cy="446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8527571" y="218289"/>
              <a:ext cx="515400" cy="446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8527563" y="962588"/>
              <a:ext cx="515400" cy="446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8527571" y="1682045"/>
              <a:ext cx="328500" cy="284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1F8AD7">
                <a:alpha val="53160"/>
              </a:srgb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59096" y="3936370"/>
              <a:ext cx="328500" cy="284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1F8AD7">
                <a:alpha val="53160"/>
              </a:srgb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35462" y="4076538"/>
              <a:ext cx="515400" cy="446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-235462" y="4523238"/>
              <a:ext cx="515400" cy="446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170013" y="4295113"/>
              <a:ext cx="515400" cy="446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36624" y="4477525"/>
              <a:ext cx="81900" cy="81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71438" dist="9525" dir="66000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8527574" y="67150"/>
              <a:ext cx="81900" cy="81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71438" dist="9525" dir="66000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2933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E2738-F1A4-4305-BF26-0717393D1ABA}" type="datetimeFigureOut">
              <a:rPr lang="ru-RU" smtClean="0"/>
              <a:pPr/>
              <a:t>25.02.2025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50036-C1B8-4825-A89A-0C4844355E5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4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0.png"/><Relationship Id="rId4" Type="http://schemas.openxmlformats.org/officeDocument/2006/relationships/diagramData" Target="../diagrams/data1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4.png"/><Relationship Id="rId5" Type="http://schemas.openxmlformats.org/officeDocument/2006/relationships/diagramLayout" Target="../diagrams/layout2.xml"/><Relationship Id="rId10" Type="http://schemas.openxmlformats.org/officeDocument/2006/relationships/image" Target="../media/image10.png"/><Relationship Id="rId4" Type="http://schemas.openxmlformats.org/officeDocument/2006/relationships/diagramData" Target="../diagrams/data2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4" descr="http://toshkent.uz/images/bg/emble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5745" y="201020"/>
            <a:ext cx="2825419" cy="1331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 descr="\\807-2\1. Social\UZSTA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22912" y="313900"/>
            <a:ext cx="1089781" cy="968364"/>
          </a:xfrm>
          <a:prstGeom prst="rect">
            <a:avLst/>
          </a:prstGeom>
          <a:noFill/>
        </p:spPr>
      </p:pic>
      <p:cxnSp>
        <p:nvCxnSpPr>
          <p:cNvPr id="16" name="Прямая соединительная линия 15"/>
          <p:cNvCxnSpPr/>
          <p:nvPr/>
        </p:nvCxnSpPr>
        <p:spPr>
          <a:xfrm flipH="1">
            <a:off x="0" y="3677614"/>
            <a:ext cx="12192000" cy="1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/>
          <p:cNvSpPr>
            <a:spLocks noGrp="1"/>
          </p:cNvSpPr>
          <p:nvPr>
            <p:ph type="ctrTitle"/>
          </p:nvPr>
        </p:nvSpPr>
        <p:spPr>
          <a:xfrm>
            <a:off x="2509399" y="2268234"/>
            <a:ext cx="7503641" cy="1049830"/>
          </a:xfrm>
        </p:spPr>
        <p:txBody>
          <a:bodyPr>
            <a:noAutofit/>
          </a:bodyPr>
          <a:lstStyle/>
          <a:p>
            <a:r>
              <a:rPr lang="uz-Cyrl-UZ" sz="2400" b="1" dirty="0" smtClean="0">
                <a:ln w="1905"/>
                <a:solidFill>
                  <a:schemeClr val="accent1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Инвестициялар ва қурилиш статистика бошқармаси</a:t>
            </a:r>
            <a:endParaRPr lang="ru-RU" sz="2400" b="1" dirty="0" smtClean="0">
              <a:ln w="1905"/>
              <a:solidFill>
                <a:schemeClr val="accent1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17" name="Рисунок 1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05" y="3748216"/>
            <a:ext cx="5255741" cy="29738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27348" y="4413611"/>
            <a:ext cx="3228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z-Cyrl-UZ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Маърузачи: Иргашев Ботир Самарович</a:t>
            </a:r>
            <a:endPara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02851" y="5517482"/>
            <a:ext cx="3228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z-Cyrl-UZ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Маърузачи: Иргашев Ботир Самарович</a:t>
            </a:r>
            <a:endPara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59925" y="5334897"/>
            <a:ext cx="4649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z-Cyrl-UZ" sz="14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Инвестициялар ва қурилиш </a:t>
            </a:r>
            <a:br>
              <a:rPr lang="uz-Cyrl-UZ" sz="14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uz-Cyrl-UZ" sz="14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статистика бошқармаси </a:t>
            </a:r>
            <a:br>
              <a:rPr lang="uz-Cyrl-UZ" sz="14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uz-Cyrl-UZ" sz="14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бошлиғи</a:t>
            </a:r>
            <a:endParaRPr lang="ru-RU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14868" y="4973536"/>
            <a:ext cx="4816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z-Cyrl-UZ" sz="1400" b="1" dirty="0" smtClean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Маърузачи:  Жомолов Музаффар Мирзохитович</a:t>
            </a:r>
            <a:endParaRPr lang="ru-RU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Подзаголовок 2"/>
          <p:cNvSpPr txBox="1">
            <a:spLocks/>
          </p:cNvSpPr>
          <p:nvPr/>
        </p:nvSpPr>
        <p:spPr>
          <a:xfrm>
            <a:off x="5697751" y="6376860"/>
            <a:ext cx="2568920" cy="340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z-Cyrl-UZ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Тошкент  -  202</a:t>
            </a: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5</a:t>
            </a:r>
            <a:r>
              <a:rPr kumimoji="0" lang="uz-Cyrl-UZ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 й.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 flipH="1">
            <a:off x="0" y="1853588"/>
            <a:ext cx="12192000" cy="1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037316" y="0"/>
            <a:ext cx="102650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Инвестициялар ва қурилиш бошқармаси бўлимлар схемаси.</a:t>
            </a:r>
            <a:endParaRPr lang="ru-RU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11267508" y="217185"/>
            <a:ext cx="752475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11018067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" descr="\\807-2\1. Social\UZSTA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0485" y="38100"/>
            <a:ext cx="622015" cy="622015"/>
          </a:xfrm>
          <a:prstGeom prst="rect">
            <a:avLst/>
          </a:prstGeom>
          <a:noFill/>
        </p:spPr>
      </p:pic>
      <p:cxnSp>
        <p:nvCxnSpPr>
          <p:cNvPr id="34" name="Прямая соединительная линия 33"/>
          <p:cNvCxnSpPr/>
          <p:nvPr/>
        </p:nvCxnSpPr>
        <p:spPr>
          <a:xfrm>
            <a:off x="1312092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6723324" y="1066800"/>
            <a:ext cx="0" cy="46783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AutoShape 8"/>
          <p:cNvSpPr>
            <a:spLocks noChangeArrowheads="1"/>
          </p:cNvSpPr>
          <p:nvPr/>
        </p:nvSpPr>
        <p:spPr bwMode="gray">
          <a:xfrm>
            <a:off x="3732415" y="963179"/>
            <a:ext cx="4064923" cy="571454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lvl="0" algn="ctr" eaLnBrk="0" fontAlgn="base" hangingPunct="0">
              <a:spcBef>
                <a:spcPts val="600"/>
              </a:spcBef>
            </a:pPr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Бошқарма бошлиғи </a:t>
            </a:r>
            <a:endParaRPr lang="ru-RU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651760" y="1901655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73166" y="2026346"/>
            <a:ext cx="3027152" cy="25082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41492" y="2191503"/>
            <a:ext cx="2601883" cy="22558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Инвестиция ва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қурилиш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масалалари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бўйича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ривожланишнинг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мақсадли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дастурлари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индикаторлари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ва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таҳлилий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ахборотларни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шакллантириш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бўлими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Скругленный прямоугольник 60"/>
          <p:cNvSpPr/>
          <p:nvPr/>
        </p:nvSpPr>
        <p:spPr>
          <a:xfrm>
            <a:off x="4274115" y="2026346"/>
            <a:ext cx="3027152" cy="25082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рямоугольник 61"/>
          <p:cNvSpPr/>
          <p:nvPr/>
        </p:nvSpPr>
        <p:spPr>
          <a:xfrm>
            <a:off x="4486749" y="2303725"/>
            <a:ext cx="2601883" cy="1953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Номолиявий</a:t>
            </a:r>
            <a:r>
              <a:rPr lang="ru-RU" dirty="0"/>
              <a:t> </a:t>
            </a:r>
            <a:r>
              <a:rPr lang="ru-RU" dirty="0" err="1"/>
              <a:t>активларга</a:t>
            </a:r>
            <a:r>
              <a:rPr lang="ru-RU" dirty="0"/>
              <a:t> </a:t>
            </a:r>
            <a:r>
              <a:rPr lang="ru-RU" dirty="0" err="1"/>
              <a:t>инвестициялар</a:t>
            </a:r>
            <a:r>
              <a:rPr lang="ru-RU" dirty="0"/>
              <a:t> </a:t>
            </a:r>
            <a:r>
              <a:rPr lang="ru-RU" dirty="0" err="1"/>
              <a:t>киритиш</a:t>
            </a:r>
            <a:r>
              <a:rPr lang="ru-RU" dirty="0"/>
              <a:t> </a:t>
            </a:r>
            <a:r>
              <a:rPr lang="ru-RU" dirty="0" err="1"/>
              <a:t>бўйича</a:t>
            </a:r>
            <a:r>
              <a:rPr lang="ru-RU" dirty="0"/>
              <a:t> </a:t>
            </a:r>
            <a:r>
              <a:rPr lang="ru-RU" dirty="0" err="1"/>
              <a:t>тизимли</a:t>
            </a:r>
            <a:r>
              <a:rPr lang="ru-RU" dirty="0"/>
              <a:t> статистик </a:t>
            </a:r>
            <a:r>
              <a:rPr lang="ru-RU" dirty="0" err="1"/>
              <a:t>кузатувлар</a:t>
            </a:r>
            <a:r>
              <a:rPr lang="ru-RU" dirty="0"/>
              <a:t> </a:t>
            </a:r>
            <a:r>
              <a:rPr lang="ru-RU" dirty="0" err="1" smtClean="0"/>
              <a:t>бўлими</a:t>
            </a:r>
            <a:r>
              <a:rPr lang="ru-RU" dirty="0" smtClean="0"/>
              <a:t> </a:t>
            </a:r>
            <a:br>
              <a:rPr lang="ru-RU" dirty="0" smtClean="0"/>
            </a:b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64" name="Скругленный прямоугольник 63"/>
          <p:cNvSpPr/>
          <p:nvPr/>
        </p:nvSpPr>
        <p:spPr>
          <a:xfrm>
            <a:off x="8141565" y="2026346"/>
            <a:ext cx="3027152" cy="25082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8416184" y="2303725"/>
            <a:ext cx="2601883" cy="1953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Уй-жой</a:t>
            </a:r>
            <a:r>
              <a:rPr lang="ru-RU" dirty="0"/>
              <a:t> </a:t>
            </a:r>
            <a:r>
              <a:rPr lang="ru-RU" dirty="0" err="1"/>
              <a:t>қурилиши</a:t>
            </a:r>
            <a:r>
              <a:rPr lang="ru-RU" dirty="0"/>
              <a:t> ва </a:t>
            </a:r>
            <a:r>
              <a:rPr lang="ru-RU" dirty="0" err="1"/>
              <a:t>пудратчи</a:t>
            </a:r>
            <a:r>
              <a:rPr lang="ru-RU" dirty="0"/>
              <a:t> </a:t>
            </a:r>
            <a:r>
              <a:rPr lang="ru-RU" dirty="0" err="1"/>
              <a:t>қурилиш</a:t>
            </a:r>
            <a:r>
              <a:rPr lang="ru-RU" dirty="0"/>
              <a:t> </a:t>
            </a:r>
            <a:r>
              <a:rPr lang="ru-RU" dirty="0" err="1"/>
              <a:t>ташкилотлари</a:t>
            </a:r>
            <a:r>
              <a:rPr lang="ru-RU" dirty="0"/>
              <a:t> </a:t>
            </a:r>
            <a:r>
              <a:rPr lang="ru-RU" dirty="0" err="1"/>
              <a:t>фаолиятини</a:t>
            </a:r>
            <a:r>
              <a:rPr lang="ru-RU" dirty="0"/>
              <a:t> статистик </a:t>
            </a:r>
            <a:r>
              <a:rPr lang="ru-RU" dirty="0" err="1"/>
              <a:t>кузатувлари</a:t>
            </a:r>
            <a:r>
              <a:rPr lang="ru-RU" dirty="0"/>
              <a:t> </a:t>
            </a:r>
            <a:r>
              <a:rPr lang="ru-RU" dirty="0" err="1" smtClean="0"/>
              <a:t>бўлими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 flipH="1">
            <a:off x="1986742" y="1556557"/>
            <a:ext cx="2254340" cy="430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Прямая со стрелкой 67"/>
          <p:cNvCxnSpPr/>
          <p:nvPr/>
        </p:nvCxnSpPr>
        <p:spPr>
          <a:xfrm>
            <a:off x="5787690" y="1556557"/>
            <a:ext cx="16626" cy="4697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2" name="Прямая со стрелкой 71"/>
          <p:cNvCxnSpPr/>
          <p:nvPr/>
        </p:nvCxnSpPr>
        <p:spPr>
          <a:xfrm>
            <a:off x="7456290" y="1565337"/>
            <a:ext cx="1878903" cy="4215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037315" y="4699751"/>
            <a:ext cx="1660163" cy="240066"/>
          </a:xfrm>
          <a:prstGeom prst="rect">
            <a:avLst/>
          </a:prstGeom>
          <a:solidFill>
            <a:srgbClr val="17B7BF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uz-Cyrl-UZ" sz="1200" dirty="0" smtClean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Бўлим тузилмаси</a:t>
            </a:r>
            <a:endParaRPr lang="ru-RU" sz="1200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</p:txBody>
      </p:sp>
      <p:sp>
        <p:nvSpPr>
          <p:cNvPr id="80" name="Скругленный прямоугольник 79"/>
          <p:cNvSpPr/>
          <p:nvPr/>
        </p:nvSpPr>
        <p:spPr>
          <a:xfrm>
            <a:off x="207819" y="5118377"/>
            <a:ext cx="989214" cy="81690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Прямоугольник 84"/>
          <p:cNvSpPr/>
          <p:nvPr/>
        </p:nvSpPr>
        <p:spPr>
          <a:xfrm>
            <a:off x="337230" y="5202516"/>
            <a:ext cx="760050" cy="563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1575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uz-Cyrl-UZ" sz="9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Roboto Black" panose="02000000000000000000" pitchFamily="2" charset="0"/>
              </a:rPr>
              <a:t>нафар</a:t>
            </a:r>
            <a:r>
              <a:rPr lang="uz-Cyrl-UZ" sz="9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ходим</a:t>
            </a:r>
            <a:endParaRPr lang="ru-RU" sz="1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2" name="Прямоугольник 91"/>
          <p:cNvSpPr/>
          <p:nvPr/>
        </p:nvSpPr>
        <p:spPr>
          <a:xfrm>
            <a:off x="1321146" y="5191473"/>
            <a:ext cx="1922229" cy="563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Бўлим бошлиғи</a:t>
            </a:r>
          </a:p>
          <a:p>
            <a:pPr algn="just"/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uz-Cyrl-UZ" sz="1000" b="1" dirty="0" smtClean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 нафар </a:t>
            </a:r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бош мутахассис</a:t>
            </a:r>
          </a:p>
          <a:p>
            <a:pPr algn="just"/>
            <a:r>
              <a:rPr lang="uz-Cyrl-UZ" sz="1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uz-Cyrl-UZ" sz="1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uz-Cyrl-UZ" sz="1000" b="1" dirty="0" smtClean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нафар </a:t>
            </a:r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етакчи </a:t>
            </a:r>
            <a:r>
              <a:rPr lang="uz-Cyrl-UZ" sz="1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мутахассис</a:t>
            </a:r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000" b="1" u="sng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ru-RU" sz="2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974234" y="4691940"/>
            <a:ext cx="1660163" cy="240066"/>
          </a:xfrm>
          <a:prstGeom prst="rect">
            <a:avLst/>
          </a:prstGeom>
          <a:solidFill>
            <a:srgbClr val="17B7BF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uz-Cyrl-UZ" sz="1200" dirty="0" smtClean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Бўлим тузилмаси</a:t>
            </a:r>
            <a:endParaRPr lang="ru-RU" sz="1200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</p:txBody>
      </p:sp>
      <p:sp>
        <p:nvSpPr>
          <p:cNvPr id="94" name="Скругленный прямоугольник 93"/>
          <p:cNvSpPr/>
          <p:nvPr/>
        </p:nvSpPr>
        <p:spPr>
          <a:xfrm>
            <a:off x="4155395" y="5075842"/>
            <a:ext cx="1048371" cy="81690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" name="Прямоугольник 94"/>
          <p:cNvSpPr/>
          <p:nvPr/>
        </p:nvSpPr>
        <p:spPr>
          <a:xfrm>
            <a:off x="4269978" y="5191473"/>
            <a:ext cx="760050" cy="563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1575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uz-Cyrl-UZ" sz="9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Roboto Black" panose="02000000000000000000" pitchFamily="2" charset="0"/>
              </a:rPr>
              <a:t>нафар</a:t>
            </a:r>
            <a:r>
              <a:rPr lang="uz-Cyrl-UZ" sz="9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ходим</a:t>
            </a:r>
            <a:endParaRPr lang="ru-RU" sz="1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6" name="Прямоугольник 95"/>
          <p:cNvSpPr/>
          <p:nvPr/>
        </p:nvSpPr>
        <p:spPr>
          <a:xfrm>
            <a:off x="5318349" y="5202516"/>
            <a:ext cx="1748490" cy="563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Бўлим бошлиғи</a:t>
            </a:r>
          </a:p>
          <a:p>
            <a:pPr algn="just"/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uz-Cyrl-UZ" sz="1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uz-Cyrl-UZ" sz="1000" b="1" dirty="0" smtClean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нафар </a:t>
            </a:r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бош мутахассис </a:t>
            </a:r>
            <a:r>
              <a:rPr lang="uz-Cyrl-UZ" sz="1000" b="1" u="sng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ru-RU" sz="2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992052" y="4701714"/>
            <a:ext cx="1660163" cy="240066"/>
          </a:xfrm>
          <a:prstGeom prst="rect">
            <a:avLst/>
          </a:prstGeom>
          <a:solidFill>
            <a:srgbClr val="17B7BF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uz-Cyrl-UZ" sz="1200" dirty="0" smtClean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Бўлим тузилмаси</a:t>
            </a:r>
            <a:endParaRPr lang="ru-RU" sz="1200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</p:txBody>
      </p:sp>
      <p:sp>
        <p:nvSpPr>
          <p:cNvPr id="99" name="Скругленный прямоугольник 98"/>
          <p:cNvSpPr/>
          <p:nvPr/>
        </p:nvSpPr>
        <p:spPr>
          <a:xfrm>
            <a:off x="8048523" y="5004301"/>
            <a:ext cx="904210" cy="81690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0" name="Прямоугольник 99"/>
          <p:cNvSpPr/>
          <p:nvPr/>
        </p:nvSpPr>
        <p:spPr>
          <a:xfrm>
            <a:off x="8192682" y="5118377"/>
            <a:ext cx="760050" cy="563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1575" b="1" dirty="0" smtClean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uz-Cyrl-UZ" sz="9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Roboto Black" panose="02000000000000000000" pitchFamily="2" charset="0"/>
              </a:rPr>
              <a:t>нафар</a:t>
            </a:r>
            <a:r>
              <a:rPr lang="uz-Cyrl-UZ" sz="9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ходим</a:t>
            </a:r>
            <a:endParaRPr lang="ru-RU" sz="1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2" name="Прямоугольник 101"/>
          <p:cNvSpPr/>
          <p:nvPr/>
        </p:nvSpPr>
        <p:spPr>
          <a:xfrm>
            <a:off x="9090909" y="5108900"/>
            <a:ext cx="1922229" cy="563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Бўлим бошлиғи</a:t>
            </a:r>
          </a:p>
          <a:p>
            <a:pPr algn="just"/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uz-Cyrl-UZ" sz="1000" b="1" dirty="0" smtClean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 нафар </a:t>
            </a:r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бош мутахассис</a:t>
            </a:r>
          </a:p>
          <a:p>
            <a:pPr algn="just"/>
            <a:r>
              <a:rPr lang="uz-Cyrl-UZ" sz="1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uz-Cyrl-UZ" sz="1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uz-Cyrl-UZ" sz="1000" b="1" dirty="0" smtClean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нафар </a:t>
            </a:r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етакчи </a:t>
            </a:r>
            <a:r>
              <a:rPr lang="uz-Cyrl-UZ" sz="1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мутахассис</a:t>
            </a:r>
            <a:r>
              <a:rPr lang="uz-Cyrl-UZ" sz="1000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000" b="1" u="sng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ru-RU" sz="200" b="1" u="sng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958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037316" y="0"/>
            <a:ext cx="102650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Қурилиш ишлари ҳажмини </a:t>
            </a:r>
            <a:b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статистик баҳолаш манбаларининг инструментлари.</a:t>
            </a:r>
            <a:endParaRPr lang="ru-RU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11267508" y="217185"/>
            <a:ext cx="752475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11018067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" descr="\\807-2\1. Social\UZSTA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0485" y="38100"/>
            <a:ext cx="622015" cy="622015"/>
          </a:xfrm>
          <a:prstGeom prst="rect">
            <a:avLst/>
          </a:prstGeom>
          <a:noFill/>
        </p:spPr>
      </p:pic>
      <p:cxnSp>
        <p:nvCxnSpPr>
          <p:cNvPr id="34" name="Прямая соединительная линия 33"/>
          <p:cNvCxnSpPr/>
          <p:nvPr/>
        </p:nvCxnSpPr>
        <p:spPr>
          <a:xfrm>
            <a:off x="1312092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6723324" y="1066800"/>
            <a:ext cx="0" cy="46783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1664" y="855421"/>
            <a:ext cx="11182036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Статистика ҳисобот турлари бўйича маълумотларнинг шаклланиши</a:t>
            </a:r>
            <a:endParaRPr lang="uz-Cyrl-UZ" b="1" dirty="0">
              <a:solidFill>
                <a:schemeClr val="bg1"/>
              </a:solidFill>
              <a:latin typeface="Arial" pitchFamily="34" charset="0"/>
              <a:ea typeface="Cambria Math" panose="02040503050406030204" pitchFamily="18" charset="0"/>
              <a:cs typeface="Arial" pitchFamily="34" charset="0"/>
            </a:endParaRPr>
          </a:p>
        </p:txBody>
      </p:sp>
      <p:grpSp>
        <p:nvGrpSpPr>
          <p:cNvPr id="2" name="Группа 36"/>
          <p:cNvGrpSpPr/>
          <p:nvPr/>
        </p:nvGrpSpPr>
        <p:grpSpPr>
          <a:xfrm>
            <a:off x="76200" y="838777"/>
            <a:ext cx="457200" cy="457200"/>
            <a:chOff x="1404590" y="3670109"/>
            <a:chExt cx="457200" cy="457200"/>
          </a:xfrm>
          <a:effectLst>
            <a:outerShdw blurRad="114300" dist="50800" dir="3000000" sx="107000" sy="107000" algn="tl" rotWithShape="0">
              <a:prstClr val="black">
                <a:alpha val="40000"/>
              </a:prstClr>
            </a:outerShdw>
          </a:effectLst>
        </p:grpSpPr>
        <p:sp>
          <p:nvSpPr>
            <p:cNvPr id="38" name="Oval 7"/>
            <p:cNvSpPr/>
            <p:nvPr/>
          </p:nvSpPr>
          <p:spPr>
            <a:xfrm>
              <a:off x="1404590" y="3670109"/>
              <a:ext cx="457200" cy="4572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 Black" pitchFamily="34" charset="0"/>
              </a:endParaRPr>
            </a:p>
          </p:txBody>
        </p:sp>
        <p:sp>
          <p:nvSpPr>
            <p:cNvPr id="39" name="Прямоугольник 38"/>
            <p:cNvSpPr/>
            <p:nvPr/>
          </p:nvSpPr>
          <p:spPr>
            <a:xfrm>
              <a:off x="1458113" y="3696983"/>
              <a:ext cx="32733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altLang="ru-RU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Dotum" pitchFamily="34" charset="-127"/>
                  <a:cs typeface="Arial" pitchFamily="34" charset="0"/>
                  <a:sym typeface="Dotum" pitchFamily="34" charset="-127"/>
                </a:rPr>
                <a:t>1</a:t>
              </a:r>
              <a:endParaRPr lang="ru-RU" sz="2000" dirty="0"/>
            </a:p>
          </p:txBody>
        </p:sp>
      </p:grpSp>
      <p:pic>
        <p:nvPicPr>
          <p:cNvPr id="55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6205" y="1994859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57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0402" y="2078982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58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4330" y="2734893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59" name="AutoShape 8"/>
          <p:cNvSpPr>
            <a:spLocks noChangeArrowheads="1"/>
          </p:cNvSpPr>
          <p:nvPr/>
        </p:nvSpPr>
        <p:spPr bwMode="gray">
          <a:xfrm>
            <a:off x="4524809" y="1338213"/>
            <a:ext cx="3351473" cy="428754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uz-Latn-UZ" sz="1500" b="1" dirty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Invest</a:t>
            </a:r>
            <a:r>
              <a:rPr lang="uz-Latn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asosiy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uz-Cyrl-UZ" sz="14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чораклик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60" name="AutoShape 8"/>
          <p:cNvSpPr>
            <a:spLocks noChangeArrowheads="1"/>
          </p:cNvSpPr>
          <p:nvPr/>
        </p:nvSpPr>
        <p:spPr bwMode="gray">
          <a:xfrm>
            <a:off x="8608974" y="1856679"/>
            <a:ext cx="3405226" cy="428754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1-КВ        (йиллик)</a:t>
            </a:r>
          </a:p>
        </p:txBody>
      </p:sp>
      <p:pic>
        <p:nvPicPr>
          <p:cNvPr id="63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52052" y="2013130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86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1468" y="2630091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81" name="TextBox 80"/>
          <p:cNvSpPr txBox="1"/>
          <p:nvPr/>
        </p:nvSpPr>
        <p:spPr>
          <a:xfrm>
            <a:off x="603564" y="3293821"/>
            <a:ext cx="11258236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uz-Cyrl-UZ" b="1" smtClean="0">
                <a:solidFill>
                  <a:schemeClr val="bg1"/>
                </a:solidFill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Статистика </a:t>
            </a:r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кузатув турлари бўйича маълумотларнинг шаклланиши</a:t>
            </a:r>
            <a:endParaRPr lang="uz-Cyrl-UZ" b="1" dirty="0">
              <a:solidFill>
                <a:schemeClr val="bg1"/>
              </a:solidFill>
              <a:latin typeface="Arial" pitchFamily="34" charset="0"/>
              <a:ea typeface="Cambria Math" panose="02040503050406030204" pitchFamily="18" charset="0"/>
              <a:cs typeface="Arial" pitchFamily="34" charset="0"/>
            </a:endParaRPr>
          </a:p>
        </p:txBody>
      </p:sp>
      <p:grpSp>
        <p:nvGrpSpPr>
          <p:cNvPr id="3" name="Группа 81"/>
          <p:cNvGrpSpPr/>
          <p:nvPr/>
        </p:nvGrpSpPr>
        <p:grpSpPr>
          <a:xfrm>
            <a:off x="88900" y="3200977"/>
            <a:ext cx="457200" cy="457200"/>
            <a:chOff x="1404590" y="3670109"/>
            <a:chExt cx="457200" cy="457200"/>
          </a:xfrm>
          <a:effectLst>
            <a:outerShdw blurRad="114300" dist="50800" dir="3000000" sx="107000" sy="107000" algn="tl" rotWithShape="0">
              <a:prstClr val="black">
                <a:alpha val="40000"/>
              </a:prstClr>
            </a:outerShdw>
          </a:effectLst>
        </p:grpSpPr>
        <p:sp>
          <p:nvSpPr>
            <p:cNvPr id="83" name="Oval 7"/>
            <p:cNvSpPr/>
            <p:nvPr/>
          </p:nvSpPr>
          <p:spPr>
            <a:xfrm>
              <a:off x="1404590" y="3670109"/>
              <a:ext cx="457200" cy="4572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 Black" pitchFamily="34" charset="0"/>
              </a:endParaRPr>
            </a:p>
          </p:txBody>
        </p:sp>
        <p:sp>
          <p:nvSpPr>
            <p:cNvPr id="84" name="Прямоугольник 83"/>
            <p:cNvSpPr/>
            <p:nvPr/>
          </p:nvSpPr>
          <p:spPr>
            <a:xfrm>
              <a:off x="1458113" y="3696983"/>
              <a:ext cx="32733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uz-Cyrl-UZ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Dotum" pitchFamily="34" charset="-127"/>
                  <a:cs typeface="Arial" pitchFamily="34" charset="0"/>
                  <a:sym typeface="Dotum" pitchFamily="34" charset="-127"/>
                </a:rPr>
                <a:t>2</a:t>
              </a:r>
              <a:endParaRPr lang="ru-RU" sz="2000" dirty="0"/>
            </a:p>
          </p:txBody>
        </p:sp>
      </p:grpSp>
      <p:pic>
        <p:nvPicPr>
          <p:cNvPr id="91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037" y="4041846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97" name="AutoShape 8"/>
          <p:cNvSpPr>
            <a:spLocks noChangeArrowheads="1"/>
          </p:cNvSpPr>
          <p:nvPr/>
        </p:nvSpPr>
        <p:spPr bwMode="gray">
          <a:xfrm>
            <a:off x="568732" y="3960509"/>
            <a:ext cx="3600000" cy="360000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fontAlgn="base" hangingPunct="0">
              <a:spcBef>
                <a:spcPts val="600"/>
              </a:spcBef>
            </a:pPr>
            <a:r>
              <a:rPr lang="en-US" sz="1600" b="1" dirty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ru-RU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en-US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TJ</a:t>
            </a:r>
            <a:r>
              <a:rPr lang="uz-Cyrl-UZ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сўровнома </a:t>
            </a:r>
            <a:r>
              <a:rPr lang="ru-RU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uz-Cyrl-UZ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бир марталик</a:t>
            </a:r>
            <a:r>
              <a:rPr lang="ru-RU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101" name="AutoShape 8"/>
          <p:cNvSpPr>
            <a:spLocks noChangeArrowheads="1"/>
          </p:cNvSpPr>
          <p:nvPr/>
        </p:nvSpPr>
        <p:spPr bwMode="gray">
          <a:xfrm>
            <a:off x="8391302" y="4222695"/>
            <a:ext cx="3420000" cy="360000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Телефон кузатуви маълумотлари</a:t>
            </a:r>
            <a:endParaRPr lang="ru-RU" sz="1500" b="1" dirty="0" smtClean="0">
              <a:solidFill>
                <a:srgbClr val="2847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34074" y="4725681"/>
            <a:ext cx="11227726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Маълумотларнинг шаклланиш жараёнида бошқа манба маълумотларининг иштироки</a:t>
            </a:r>
            <a:endParaRPr lang="uz-Cyrl-UZ" b="1" dirty="0">
              <a:solidFill>
                <a:schemeClr val="bg1"/>
              </a:solidFill>
              <a:latin typeface="Arial" pitchFamily="34" charset="0"/>
              <a:ea typeface="Cambria Math" panose="02040503050406030204" pitchFamily="18" charset="0"/>
              <a:cs typeface="Arial" pitchFamily="34" charset="0"/>
            </a:endParaRPr>
          </a:p>
        </p:txBody>
      </p:sp>
      <p:grpSp>
        <p:nvGrpSpPr>
          <p:cNvPr id="4" name="Группа 103"/>
          <p:cNvGrpSpPr/>
          <p:nvPr/>
        </p:nvGrpSpPr>
        <p:grpSpPr>
          <a:xfrm>
            <a:off x="76200" y="4656170"/>
            <a:ext cx="457200" cy="457200"/>
            <a:chOff x="1404590" y="3670109"/>
            <a:chExt cx="457200" cy="457200"/>
          </a:xfrm>
          <a:effectLst>
            <a:outerShdw blurRad="114300" dist="50800" dir="3000000" sx="107000" sy="107000" algn="tl" rotWithShape="0">
              <a:prstClr val="black">
                <a:alpha val="40000"/>
              </a:prstClr>
            </a:outerShdw>
          </a:effectLst>
        </p:grpSpPr>
        <p:sp>
          <p:nvSpPr>
            <p:cNvPr id="105" name="Oval 7"/>
            <p:cNvSpPr/>
            <p:nvPr/>
          </p:nvSpPr>
          <p:spPr>
            <a:xfrm>
              <a:off x="1404590" y="3670109"/>
              <a:ext cx="457200" cy="4572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 Black" pitchFamily="34" charset="0"/>
              </a:endParaRPr>
            </a:p>
          </p:txBody>
        </p:sp>
        <p:sp>
          <p:nvSpPr>
            <p:cNvPr id="106" name="Прямоугольник 105"/>
            <p:cNvSpPr/>
            <p:nvPr/>
          </p:nvSpPr>
          <p:spPr>
            <a:xfrm>
              <a:off x="1470813" y="3709683"/>
              <a:ext cx="32733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uz-Cyrl-UZ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Dotum" pitchFamily="34" charset="-127"/>
                  <a:cs typeface="Arial" pitchFamily="34" charset="0"/>
                  <a:sym typeface="Dotum" pitchFamily="34" charset="-127"/>
                </a:rPr>
                <a:t>3</a:t>
              </a:r>
              <a:endParaRPr lang="ru-RU" sz="2000" dirty="0"/>
            </a:p>
          </p:txBody>
        </p:sp>
      </p:grpSp>
      <p:sp>
        <p:nvSpPr>
          <p:cNvPr id="112" name="AutoShape 8"/>
          <p:cNvSpPr>
            <a:spLocks noChangeArrowheads="1"/>
          </p:cNvSpPr>
          <p:nvPr/>
        </p:nvSpPr>
        <p:spPr bwMode="gray">
          <a:xfrm>
            <a:off x="7689553" y="5373967"/>
            <a:ext cx="3600000" cy="360000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eaLnBrk="0" fontAlgn="base" hangingPunct="0">
              <a:spcBef>
                <a:spcPts val="600"/>
              </a:spcBef>
            </a:pP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Солиқ қўмитаси маълумотлари</a:t>
            </a:r>
            <a:endParaRPr lang="ru-RU" sz="1500" b="1" dirty="0" smtClean="0">
              <a:solidFill>
                <a:srgbClr val="28478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15" name="Прямая соединительная линия 114"/>
          <p:cNvCxnSpPr/>
          <p:nvPr/>
        </p:nvCxnSpPr>
        <p:spPr>
          <a:xfrm flipH="1">
            <a:off x="4038600" y="1321594"/>
            <a:ext cx="794" cy="1802606"/>
          </a:xfrm>
          <a:prstGeom prst="line">
            <a:avLst/>
          </a:prstGeom>
          <a:ln w="349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единительная линия 115"/>
          <p:cNvCxnSpPr/>
          <p:nvPr/>
        </p:nvCxnSpPr>
        <p:spPr>
          <a:xfrm flipH="1">
            <a:off x="8026400" y="1346994"/>
            <a:ext cx="794" cy="1739106"/>
          </a:xfrm>
          <a:prstGeom prst="line">
            <a:avLst/>
          </a:prstGeom>
          <a:ln w="349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AutoShape 8"/>
          <p:cNvSpPr>
            <a:spLocks noChangeArrowheads="1"/>
          </p:cNvSpPr>
          <p:nvPr/>
        </p:nvSpPr>
        <p:spPr bwMode="gray">
          <a:xfrm>
            <a:off x="658297" y="1396043"/>
            <a:ext cx="3274918" cy="360000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КТЯДР маълумотлари </a:t>
            </a:r>
            <a:endParaRPr lang="ru-RU" sz="1500" b="1" dirty="0" smtClean="0">
              <a:solidFill>
                <a:srgbClr val="2847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AutoShape 8"/>
          <p:cNvSpPr>
            <a:spLocks noChangeArrowheads="1"/>
          </p:cNvSpPr>
          <p:nvPr/>
        </p:nvSpPr>
        <p:spPr bwMode="gray">
          <a:xfrm>
            <a:off x="8608974" y="1334043"/>
            <a:ext cx="3351473" cy="428754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uz-Latn-UZ" sz="1500" b="1" dirty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Invest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uz-Latn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(asosiy)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(йиллик)</a:t>
            </a:r>
          </a:p>
        </p:txBody>
      </p:sp>
      <p:pic>
        <p:nvPicPr>
          <p:cNvPr id="70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44779" y="1461917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71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25110" y="1437698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87893" y="5348176"/>
            <a:ext cx="730988" cy="499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" name="AutoShape 8"/>
          <p:cNvSpPr>
            <a:spLocks noChangeArrowheads="1"/>
          </p:cNvSpPr>
          <p:nvPr/>
        </p:nvSpPr>
        <p:spPr bwMode="gray">
          <a:xfrm>
            <a:off x="4627937" y="3942107"/>
            <a:ext cx="3240000" cy="360000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eaLnBrk="0" fontAlgn="base" hangingPunct="0">
              <a:spcBef>
                <a:spcPts val="600"/>
              </a:spcBef>
            </a:pPr>
            <a:r>
              <a:rPr lang="uz-Latn-UZ" sz="15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ru-RU" sz="1500" b="1" dirty="0" smtClean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-КВ</a:t>
            </a:r>
            <a:r>
              <a:rPr lang="en-US" sz="1500" b="1" dirty="0" smtClean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1500" b="1" dirty="0" smtClean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( қурилиш </a:t>
            </a:r>
            <a:r>
              <a:rPr lang="uz-Cyrl-UZ" sz="1500" b="1" dirty="0" smtClean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чораклик</a:t>
            </a:r>
            <a:r>
              <a:rPr lang="ru-RU" sz="1500" b="1" dirty="0" smtClean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74" name="AutoShape 8"/>
          <p:cNvSpPr>
            <a:spLocks noChangeArrowheads="1"/>
          </p:cNvSpPr>
          <p:nvPr/>
        </p:nvSpPr>
        <p:spPr bwMode="gray">
          <a:xfrm>
            <a:off x="8376534" y="3739386"/>
            <a:ext cx="3420000" cy="360000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uz-Cyrl-UZ" sz="1500" b="1" dirty="0" smtClean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Уй хўжалиги кузатуви маълумоти</a:t>
            </a:r>
            <a:endParaRPr lang="ru-RU" sz="1500" b="1" dirty="0" smtClean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6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55200" y="4317287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77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48111" y="3863629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79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1731" y="4021354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78" name="AutoShape 8"/>
          <p:cNvSpPr>
            <a:spLocks noChangeArrowheads="1"/>
          </p:cNvSpPr>
          <p:nvPr/>
        </p:nvSpPr>
        <p:spPr bwMode="gray">
          <a:xfrm>
            <a:off x="1921672" y="5416313"/>
            <a:ext cx="4379053" cy="428754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Ўзбекистон темир йўллари маълумотлари</a:t>
            </a:r>
            <a:endParaRPr lang="ru-RU" sz="1500" b="1" dirty="0" smtClean="0">
              <a:solidFill>
                <a:srgbClr val="28478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2" name="Picture 1"/>
          <p:cNvPicPr>
            <a:picLocks noChangeAspect="1" noChangeArrowheads="1"/>
          </p:cNvPicPr>
          <p:nvPr/>
        </p:nvPicPr>
        <p:blipFill>
          <a:blip r:embed="rId6" cstate="print"/>
          <a:stretch>
            <a:fillRect/>
          </a:stretch>
        </p:blipFill>
        <p:spPr bwMode="auto">
          <a:xfrm>
            <a:off x="952500" y="5291492"/>
            <a:ext cx="698500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" name="AutoShape 8"/>
          <p:cNvSpPr>
            <a:spLocks noChangeArrowheads="1"/>
          </p:cNvSpPr>
          <p:nvPr/>
        </p:nvSpPr>
        <p:spPr bwMode="gray">
          <a:xfrm>
            <a:off x="641492" y="1881557"/>
            <a:ext cx="3351473" cy="428754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12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uz-Latn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korxona shakli 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uz-Cyrl-UZ" sz="14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ойлик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88" name="AutoShape 8"/>
          <p:cNvSpPr>
            <a:spLocks noChangeArrowheads="1"/>
          </p:cNvSpPr>
          <p:nvPr/>
        </p:nvSpPr>
        <p:spPr bwMode="gray">
          <a:xfrm>
            <a:off x="640059" y="2502012"/>
            <a:ext cx="3351473" cy="428754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4-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qurilish </a:t>
            </a:r>
            <a:r>
              <a:rPr lang="uz-Latn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(jismoniy)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чораклик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89" name="AutoShape 8"/>
          <p:cNvSpPr>
            <a:spLocks noChangeArrowheads="1"/>
          </p:cNvSpPr>
          <p:nvPr/>
        </p:nvSpPr>
        <p:spPr bwMode="gray">
          <a:xfrm>
            <a:off x="4616640" y="2597161"/>
            <a:ext cx="3351473" cy="428754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eaLnBrk="0" fontAlgn="base" hangingPunct="0">
              <a:spcBef>
                <a:spcPts val="600"/>
              </a:spcBef>
            </a:pPr>
            <a:r>
              <a:rPr lang="uz-Latn-UZ" sz="1500" b="1" dirty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qurilish </a:t>
            </a:r>
            <a:r>
              <a:rPr lang="uz-Latn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(jismoniy) 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йиллик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90" name="AutoShape 8"/>
          <p:cNvSpPr>
            <a:spLocks noChangeArrowheads="1"/>
          </p:cNvSpPr>
          <p:nvPr/>
        </p:nvSpPr>
        <p:spPr bwMode="gray">
          <a:xfrm>
            <a:off x="4613794" y="1940571"/>
            <a:ext cx="3285455" cy="428754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uz-Latn-UZ" sz="1500" b="1" dirty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korxona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(йиллик)</a:t>
            </a:r>
          </a:p>
        </p:txBody>
      </p:sp>
      <p:pic>
        <p:nvPicPr>
          <p:cNvPr id="51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4453" y="1497287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028481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19" b="64960"/>
          <a:stretch/>
        </p:blipFill>
        <p:spPr>
          <a:xfrm>
            <a:off x="0" y="151"/>
            <a:ext cx="12192000" cy="683192"/>
          </a:xfrm>
          <a:prstGeom prst="rect">
            <a:avLst/>
          </a:prstGeom>
        </p:spPr>
      </p:pic>
      <p:sp>
        <p:nvSpPr>
          <p:cNvPr id="58" name="Прямоугольник 57"/>
          <p:cNvSpPr/>
          <p:nvPr/>
        </p:nvSpPr>
        <p:spPr>
          <a:xfrm>
            <a:off x="0" y="-4185"/>
            <a:ext cx="12192000" cy="686501"/>
          </a:xfrm>
          <a:prstGeom prst="rect">
            <a:avLst/>
          </a:prstGeom>
          <a:solidFill>
            <a:schemeClr val="accent1">
              <a:lumMod val="50000"/>
              <a:alpha val="8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69" dirty="0"/>
          </a:p>
        </p:txBody>
      </p:sp>
      <p:sp>
        <p:nvSpPr>
          <p:cNvPr id="60" name="Прямоугольник 59"/>
          <p:cNvSpPr/>
          <p:nvPr/>
        </p:nvSpPr>
        <p:spPr>
          <a:xfrm>
            <a:off x="1763981" y="25322"/>
            <a:ext cx="9077644" cy="654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sz="1825" b="1" dirty="0" smtClean="0">
                <a:solidFill>
                  <a:schemeClr val="bg1"/>
                </a:solidFill>
                <a:latin typeface="Arial" panose="020B0604020202020204" pitchFamily="34" charset="0"/>
                <a:ea typeface="Cambria" pitchFamily="18" charset="0"/>
                <a:cs typeface="Arial" panose="020B0604020202020204" pitchFamily="34" charset="0"/>
              </a:rPr>
              <a:t>Юридик </a:t>
            </a:r>
            <a:r>
              <a:rPr lang="uz-Cyrl-UZ" sz="1825" b="1" dirty="0">
                <a:solidFill>
                  <a:schemeClr val="bg1"/>
                </a:solidFill>
                <a:latin typeface="Arial" panose="020B0604020202020204" pitchFamily="34" charset="0"/>
                <a:ea typeface="Cambria" pitchFamily="18" charset="0"/>
                <a:cs typeface="Arial" panose="020B0604020202020204" pitchFamily="34" charset="0"/>
              </a:rPr>
              <a:t>ва жисмоний шахслар томонидан </a:t>
            </a:r>
            <a:r>
              <a:rPr lang="uz-Cyrl-UZ" sz="1825" b="1" dirty="0" smtClean="0">
                <a:solidFill>
                  <a:schemeClr val="bg1"/>
                </a:solidFill>
                <a:latin typeface="Arial" panose="020B0604020202020204" pitchFamily="34" charset="0"/>
                <a:ea typeface="Cambria" pitchFamily="18" charset="0"/>
                <a:cs typeface="Arial" panose="020B0604020202020204" pitchFamily="34" charset="0"/>
              </a:rPr>
              <a:t>қурилиш ишлар хажми  шаклланиш тартиби</a:t>
            </a:r>
            <a:endParaRPr lang="uz-Cyrl-UZ" sz="1825" b="1" dirty="0">
              <a:solidFill>
                <a:schemeClr val="bg1"/>
              </a:solidFill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18" name="Схема 17"/>
          <p:cNvGraphicFramePr/>
          <p:nvPr>
            <p:extLst>
              <p:ext uri="{D42A27DB-BD31-4B8C-83A1-F6EECF244321}">
                <p14:modId xmlns:p14="http://schemas.microsoft.com/office/powerpoint/2010/main" val="1241113171"/>
              </p:ext>
            </p:extLst>
          </p:nvPr>
        </p:nvGraphicFramePr>
        <p:xfrm>
          <a:off x="159341" y="873256"/>
          <a:ext cx="11674162" cy="5795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362" y="1097700"/>
            <a:ext cx="1672525" cy="17227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382" y="5036465"/>
            <a:ext cx="2266922" cy="1510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96422" y="873256"/>
            <a:ext cx="3039071" cy="794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521" b="1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Ойлик, чораклик ва йиллик даврийликдаги статистик хисоботлар асосида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3195" y="3433017"/>
            <a:ext cx="2932298" cy="794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521" b="1" dirty="0" smtClean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Кадастр органлари маълумотлари</a:t>
            </a:r>
            <a:r>
              <a:rPr lang="en-US" sz="1521" b="1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/>
            </a:r>
            <a:br>
              <a:rPr lang="en-US" sz="1521" b="1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</a:br>
            <a:r>
              <a:rPr lang="uz-Cyrl-UZ" sz="1521" b="1" dirty="0" smtClean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асосида</a:t>
            </a:r>
            <a:endParaRPr lang="ru-RU" sz="1521" b="1" dirty="0">
              <a:solidFill>
                <a:schemeClr val="accent5">
                  <a:lumMod val="75000"/>
                </a:schemeClr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1" name="Picture 3" descr="\\807-2\1. Social\UZSTAT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30485" y="38100"/>
            <a:ext cx="622015" cy="622015"/>
          </a:xfrm>
          <a:prstGeom prst="rect">
            <a:avLst/>
          </a:prstGeom>
          <a:noFill/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1204026" y="-8716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11018067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11267508" y="217185"/>
            <a:ext cx="752475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440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F55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Қ</a:t>
            </a:r>
            <a:r>
              <a:rPr lang="ru-RU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урилиш </a:t>
            </a:r>
            <a:r>
              <a:rPr lang="ru-RU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ишларининг</a:t>
            </a:r>
            <a:r>
              <a:rPr lang="ru-RU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ҳажмини</a:t>
            </a:r>
            <a:r>
              <a:rPr lang="ru-RU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ҳисоблаш</a:t>
            </a:r>
            <a:r>
              <a:rPr lang="en-US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жадвали </a:t>
            </a:r>
            <a:b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йил январь</a:t>
            </a:r>
            <a:r>
              <a:rPr lang="ru-RU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20" name="Picture 3" descr="\\807-2\1. Social\UZSTA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885" y="25400"/>
            <a:ext cx="622015" cy="622015"/>
          </a:xfrm>
          <a:prstGeom prst="rect">
            <a:avLst/>
          </a:prstGeom>
          <a:noFill/>
        </p:spPr>
      </p:pic>
      <p:cxnSp>
        <p:nvCxnSpPr>
          <p:cNvPr id="21" name="Прямая соединительная линия 20"/>
          <p:cNvCxnSpPr/>
          <p:nvPr/>
        </p:nvCxnSpPr>
        <p:spPr>
          <a:xfrm>
            <a:off x="1079500" y="0"/>
            <a:ext cx="346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11267508" y="217185"/>
            <a:ext cx="752475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ru-RU" sz="2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>
            <a:off x="11023600" y="0"/>
            <a:ext cx="3522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668694"/>
              </p:ext>
            </p:extLst>
          </p:nvPr>
        </p:nvGraphicFramePr>
        <p:xfrm>
          <a:off x="246184" y="773724"/>
          <a:ext cx="11614640" cy="59201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43483">
                  <a:extLst>
                    <a:ext uri="{9D8B030D-6E8A-4147-A177-3AD203B41FA5}">
                      <a16:colId xmlns:a16="http://schemas.microsoft.com/office/drawing/2014/main" val="890344953"/>
                    </a:ext>
                  </a:extLst>
                </a:gridCol>
                <a:gridCol w="1686040">
                  <a:extLst>
                    <a:ext uri="{9D8B030D-6E8A-4147-A177-3AD203B41FA5}">
                      <a16:colId xmlns:a16="http://schemas.microsoft.com/office/drawing/2014/main" val="255433418"/>
                    </a:ext>
                  </a:extLst>
                </a:gridCol>
                <a:gridCol w="1686040">
                  <a:extLst>
                    <a:ext uri="{9D8B030D-6E8A-4147-A177-3AD203B41FA5}">
                      <a16:colId xmlns:a16="http://schemas.microsoft.com/office/drawing/2014/main" val="1575098995"/>
                    </a:ext>
                  </a:extLst>
                </a:gridCol>
                <a:gridCol w="1097082">
                  <a:extLst>
                    <a:ext uri="{9D8B030D-6E8A-4147-A177-3AD203B41FA5}">
                      <a16:colId xmlns:a16="http://schemas.microsoft.com/office/drawing/2014/main" val="2483168161"/>
                    </a:ext>
                  </a:extLst>
                </a:gridCol>
                <a:gridCol w="912309">
                  <a:extLst>
                    <a:ext uri="{9D8B030D-6E8A-4147-A177-3AD203B41FA5}">
                      <a16:colId xmlns:a16="http://schemas.microsoft.com/office/drawing/2014/main" val="1419364119"/>
                    </a:ext>
                  </a:extLst>
                </a:gridCol>
                <a:gridCol w="919147">
                  <a:extLst>
                    <a:ext uri="{9D8B030D-6E8A-4147-A177-3AD203B41FA5}">
                      <a16:colId xmlns:a16="http://schemas.microsoft.com/office/drawing/2014/main" val="3978161869"/>
                    </a:ext>
                  </a:extLst>
                </a:gridCol>
                <a:gridCol w="839068">
                  <a:extLst>
                    <a:ext uri="{9D8B030D-6E8A-4147-A177-3AD203B41FA5}">
                      <a16:colId xmlns:a16="http://schemas.microsoft.com/office/drawing/2014/main" val="629047594"/>
                    </a:ext>
                  </a:extLst>
                </a:gridCol>
                <a:gridCol w="831471">
                  <a:extLst>
                    <a:ext uri="{9D8B030D-6E8A-4147-A177-3AD203B41FA5}">
                      <a16:colId xmlns:a16="http://schemas.microsoft.com/office/drawing/2014/main" val="2022401422"/>
                    </a:ext>
                  </a:extLst>
                </a:gridCol>
              </a:tblGrid>
              <a:tr h="180340">
                <a:tc>
                  <a:txBody>
                    <a:bodyPr/>
                    <a:lstStyle/>
                    <a:p>
                      <a:pPr algn="ctr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13" marR="5113" marT="511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13" marR="5113" marT="511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13" marR="5113" marT="511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13" marR="5113" marT="511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13" marR="5113" marT="511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13" marR="5113" marT="511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13" marR="5113" marT="511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млрд.сўм</a:t>
                      </a:r>
                      <a:endParaRPr lang="ru-RU" sz="10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b"/>
                </a:tc>
                <a:extLst>
                  <a:ext uri="{0D108BD9-81ED-4DB2-BD59-A6C34878D82A}">
                    <a16:rowId xmlns:a16="http://schemas.microsoft.com/office/drawing/2014/main" val="397524299"/>
                  </a:ext>
                </a:extLst>
              </a:tr>
              <a:tr h="374554">
                <a:tc rowSpan="2">
                  <a:txBody>
                    <a:bodyPr/>
                    <a:lstStyle/>
                    <a:p>
                      <a:pPr algn="ctr" fontAlgn="b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b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2025 йил</a:t>
                      </a:r>
                      <a:endParaRPr lang="ru-RU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 йил </a:t>
                      </a:r>
                      <a:endParaRPr lang="ru-RU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Ўсиш сураъти, </a:t>
                      </a:r>
                      <a:br>
                        <a:rPr lang="ru-RU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ru-RU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да</a:t>
                      </a:r>
                      <a:endParaRPr lang="ru-RU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Индекс дефлятор</a:t>
                      </a:r>
                      <a:endParaRPr lang="ru-RU" sz="1400" b="1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улуши %да</a:t>
                      </a:r>
                      <a:endParaRPr lang="ru-RU" sz="1400" b="1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130590"/>
                  </a:ext>
                </a:extLst>
              </a:tr>
              <a:tr h="80459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Амалдаги нархларда</a:t>
                      </a:r>
                      <a:endParaRPr lang="ru-RU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Таққослама нархларда</a:t>
                      </a:r>
                      <a:endParaRPr lang="ru-RU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 йил</a:t>
                      </a:r>
                      <a:endParaRPr lang="ru-RU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 йил</a:t>
                      </a:r>
                      <a:endParaRPr lang="ru-RU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805556189"/>
                  </a:ext>
                </a:extLst>
              </a:tr>
              <a:tr h="21502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428498230"/>
                  </a:ext>
                </a:extLst>
              </a:tr>
              <a:tr h="312128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Ўзбекистон Республикаси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11 755,4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11 118,8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9 431,6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117,9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105,7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100,0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100,0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164205093"/>
                  </a:ext>
                </a:extLst>
              </a:tr>
              <a:tr h="312128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Йирик жами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2 675,4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2 538,6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1 251,9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202,8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105,4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22,8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13,3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160516"/>
                  </a:ext>
                </a:extLst>
              </a:tr>
              <a:tr h="346809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Йирик, қурилиш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1 969,5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1 867,6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926,9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201,3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105,6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16,8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9,8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917997057"/>
                  </a:ext>
                </a:extLst>
              </a:tr>
              <a:tr h="19092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шу жумладан: </a:t>
                      </a:r>
                      <a:endParaRPr lang="ru-RU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5434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179362"/>
                  </a:ext>
                </a:extLst>
              </a:tr>
              <a:tr h="35374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резидент қурилиш корхоналари</a:t>
                      </a:r>
                      <a:endParaRPr lang="ru-RU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2717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1 361,2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1  294,9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926,9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139,7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105,1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11,6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9,8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841427269"/>
                  </a:ext>
                </a:extLst>
              </a:tr>
              <a:tr h="35374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норизидент қурилиш корхоналари</a:t>
                      </a:r>
                      <a:endParaRPr lang="ru-RU" sz="12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2717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608,2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572,8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106,2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5,2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129488"/>
                  </a:ext>
                </a:extLst>
              </a:tr>
              <a:tr h="35374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Йирик, қурилиш бўлмаган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29,8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27,9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32,4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86,2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106,8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810621750"/>
                  </a:ext>
                </a:extLst>
              </a:tr>
              <a:tr h="35374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Йирик, хўжалик усулда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676,2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645,0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292,5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220,5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104,8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202439"/>
                  </a:ext>
                </a:extLst>
              </a:tr>
              <a:tr h="35374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Кичик корхона ва микрофирмалар жами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5 489,8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5 227,6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4 982,7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104,9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105,0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46,7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52,8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145720630"/>
                  </a:ext>
                </a:extLst>
              </a:tr>
              <a:tr h="35374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Норасмий сектор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3 590,2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3 352,6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3 197,1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104,9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107,1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30,5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33,9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992752"/>
                  </a:ext>
                </a:extLst>
              </a:tr>
              <a:tr h="35374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ЯТТҚ   (ИЖС)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2 774,3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2 593,3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2 446,7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106,0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107,0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23,6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25,9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494657806"/>
                  </a:ext>
                </a:extLst>
              </a:tr>
              <a:tr h="35374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ЯТНҚ   (ЧС)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410,1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380,5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396,2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96,0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107,8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3,5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4,2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923701"/>
                  </a:ext>
                </a:extLst>
              </a:tr>
              <a:tr h="35374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ЯТТ    </a:t>
                      </a:r>
                      <a:r>
                        <a:rPr lang="ru-RU" sz="12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инд. ремонт)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405,9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378,8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354,2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107,0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107,1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3,8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823806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80802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037316" y="0"/>
            <a:ext cx="102650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Ассосий капиталга ўзлаштирилган инвестициялар ҳажмини </a:t>
            </a:r>
            <a:b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статистик баҳолаш манбаларининг инструментлари.</a:t>
            </a:r>
            <a:endParaRPr lang="ru-RU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11267508" y="217185"/>
            <a:ext cx="752475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11018067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" descr="\\807-2\1. Social\UZSTA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0485" y="38100"/>
            <a:ext cx="622015" cy="622015"/>
          </a:xfrm>
          <a:prstGeom prst="rect">
            <a:avLst/>
          </a:prstGeom>
          <a:noFill/>
        </p:spPr>
      </p:pic>
      <p:cxnSp>
        <p:nvCxnSpPr>
          <p:cNvPr id="34" name="Прямая соединительная линия 33"/>
          <p:cNvCxnSpPr/>
          <p:nvPr/>
        </p:nvCxnSpPr>
        <p:spPr>
          <a:xfrm>
            <a:off x="1312092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6723324" y="1066800"/>
            <a:ext cx="0" cy="46783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1664" y="855421"/>
            <a:ext cx="11182036" cy="369332"/>
          </a:xfrm>
          <a:prstGeom prst="rect">
            <a:avLst/>
          </a:prstGeom>
          <a:solidFill>
            <a:schemeClr val="accent4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smtClean="0">
                <a:solidFill>
                  <a:schemeClr val="bg1"/>
                </a:solidFill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Статистика </a:t>
            </a:r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ҳисобот турлари бўйича маълумотларнинг шаклланиши</a:t>
            </a:r>
            <a:endParaRPr lang="uz-Cyrl-UZ" b="1" dirty="0">
              <a:solidFill>
                <a:schemeClr val="bg1"/>
              </a:solidFill>
              <a:latin typeface="Arial" pitchFamily="34" charset="0"/>
              <a:ea typeface="Cambria Math" panose="02040503050406030204" pitchFamily="18" charset="0"/>
              <a:cs typeface="Arial" pitchFamily="34" charset="0"/>
            </a:endParaRPr>
          </a:p>
        </p:txBody>
      </p:sp>
      <p:grpSp>
        <p:nvGrpSpPr>
          <p:cNvPr id="2" name="Группа 36"/>
          <p:cNvGrpSpPr/>
          <p:nvPr/>
        </p:nvGrpSpPr>
        <p:grpSpPr>
          <a:xfrm>
            <a:off x="142104" y="830539"/>
            <a:ext cx="457200" cy="457200"/>
            <a:chOff x="1404590" y="3670109"/>
            <a:chExt cx="457200" cy="457200"/>
          </a:xfrm>
          <a:effectLst>
            <a:outerShdw blurRad="114300" dist="50800" dir="3000000" sx="107000" sy="107000" algn="tl" rotWithShape="0">
              <a:prstClr val="black">
                <a:alpha val="40000"/>
              </a:prstClr>
            </a:outerShdw>
          </a:effectLst>
        </p:grpSpPr>
        <p:sp>
          <p:nvSpPr>
            <p:cNvPr id="38" name="Oval 7"/>
            <p:cNvSpPr/>
            <p:nvPr/>
          </p:nvSpPr>
          <p:spPr>
            <a:xfrm>
              <a:off x="1404590" y="3670109"/>
              <a:ext cx="457200" cy="457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 Black" pitchFamily="34" charset="0"/>
              </a:endParaRPr>
            </a:p>
          </p:txBody>
        </p:sp>
        <p:sp>
          <p:nvSpPr>
            <p:cNvPr id="39" name="Прямоугольник 38"/>
            <p:cNvSpPr/>
            <p:nvPr/>
          </p:nvSpPr>
          <p:spPr>
            <a:xfrm>
              <a:off x="1458113" y="3696983"/>
              <a:ext cx="327334" cy="400110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>
              <a:spAutoFit/>
            </a:bodyPr>
            <a:lstStyle/>
            <a:p>
              <a:r>
                <a:rPr lang="ru-RU" altLang="ru-RU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Dotum" pitchFamily="34" charset="-127"/>
                  <a:cs typeface="Arial" pitchFamily="34" charset="0"/>
                  <a:sym typeface="Dotum" pitchFamily="34" charset="-127"/>
                </a:rPr>
                <a:t>1</a:t>
              </a:r>
              <a:endParaRPr lang="ru-RU" sz="2000" dirty="0"/>
            </a:p>
          </p:txBody>
        </p:sp>
      </p:grpSp>
      <p:sp>
        <p:nvSpPr>
          <p:cNvPr id="54" name="AutoShape 8"/>
          <p:cNvSpPr>
            <a:spLocks noChangeArrowheads="1"/>
          </p:cNvSpPr>
          <p:nvPr/>
        </p:nvSpPr>
        <p:spPr bwMode="gray">
          <a:xfrm>
            <a:off x="603430" y="2561761"/>
            <a:ext cx="3351473" cy="428754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4-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qurilsh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 (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jismoniy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pic>
        <p:nvPicPr>
          <p:cNvPr id="55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190" y="2078147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57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43632" y="1998603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58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80519" y="2646829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59" name="AutoShape 8"/>
          <p:cNvSpPr>
            <a:spLocks noChangeArrowheads="1"/>
          </p:cNvSpPr>
          <p:nvPr/>
        </p:nvSpPr>
        <p:spPr bwMode="gray">
          <a:xfrm>
            <a:off x="550215" y="1934137"/>
            <a:ext cx="3351473" cy="428754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4-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Invest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 (</a:t>
            </a:r>
            <a:r>
              <a:rPr lang="en-US" sz="14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asosiy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60" name="AutoShape 8"/>
          <p:cNvSpPr>
            <a:spLocks noChangeArrowheads="1"/>
          </p:cNvSpPr>
          <p:nvPr/>
        </p:nvSpPr>
        <p:spPr bwMode="gray">
          <a:xfrm>
            <a:off x="4585065" y="2547780"/>
            <a:ext cx="3371029" cy="428754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1-КВ          (йиллик)</a:t>
            </a:r>
          </a:p>
        </p:txBody>
      </p:sp>
      <p:sp>
        <p:nvSpPr>
          <p:cNvPr id="62" name="AutoShape 8"/>
          <p:cNvSpPr>
            <a:spLocks noChangeArrowheads="1"/>
          </p:cNvSpPr>
          <p:nvPr/>
        </p:nvSpPr>
        <p:spPr bwMode="gray">
          <a:xfrm>
            <a:off x="8567800" y="1889745"/>
            <a:ext cx="3312000" cy="428754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1-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notijorat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 (йиллик)</a:t>
            </a:r>
          </a:p>
        </p:txBody>
      </p:sp>
      <p:pic>
        <p:nvPicPr>
          <p:cNvPr id="63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40465" y="2065166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64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67806" y="2635728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86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3262" y="2659015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81" name="TextBox 80"/>
          <p:cNvSpPr txBox="1"/>
          <p:nvPr/>
        </p:nvSpPr>
        <p:spPr>
          <a:xfrm>
            <a:off x="603564" y="3293821"/>
            <a:ext cx="11258236" cy="369332"/>
          </a:xfrm>
          <a:prstGeom prst="rect">
            <a:avLst/>
          </a:prstGeom>
          <a:solidFill>
            <a:schemeClr val="accent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Давлат статистика кузатув турлари бўйича маълумотларнинг шаклланиши</a:t>
            </a:r>
            <a:endParaRPr lang="uz-Cyrl-UZ" b="1" dirty="0">
              <a:solidFill>
                <a:schemeClr val="bg1"/>
              </a:solidFill>
              <a:latin typeface="Arial" pitchFamily="34" charset="0"/>
              <a:ea typeface="Cambria Math" panose="02040503050406030204" pitchFamily="18" charset="0"/>
              <a:cs typeface="Arial" pitchFamily="34" charset="0"/>
            </a:endParaRPr>
          </a:p>
        </p:txBody>
      </p:sp>
      <p:grpSp>
        <p:nvGrpSpPr>
          <p:cNvPr id="3" name="Группа 81"/>
          <p:cNvGrpSpPr/>
          <p:nvPr/>
        </p:nvGrpSpPr>
        <p:grpSpPr>
          <a:xfrm>
            <a:off x="105376" y="3258641"/>
            <a:ext cx="457200" cy="457200"/>
            <a:chOff x="1404590" y="3670109"/>
            <a:chExt cx="457200" cy="457200"/>
          </a:xfrm>
          <a:solidFill>
            <a:schemeClr val="accent5"/>
          </a:solidFill>
          <a:effectLst>
            <a:outerShdw blurRad="114300" dist="50800" dir="3000000" sx="107000" sy="107000" algn="tl" rotWithShape="0">
              <a:prstClr val="black">
                <a:alpha val="40000"/>
              </a:prstClr>
            </a:outerShdw>
          </a:effectLst>
        </p:grpSpPr>
        <p:sp>
          <p:nvSpPr>
            <p:cNvPr id="83" name="Oval 7"/>
            <p:cNvSpPr/>
            <p:nvPr/>
          </p:nvSpPr>
          <p:spPr>
            <a:xfrm>
              <a:off x="1404590" y="3670109"/>
              <a:ext cx="457200" cy="4572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 Black" pitchFamily="34" charset="0"/>
              </a:endParaRPr>
            </a:p>
          </p:txBody>
        </p:sp>
        <p:sp>
          <p:nvSpPr>
            <p:cNvPr id="84" name="Прямоугольник 83"/>
            <p:cNvSpPr/>
            <p:nvPr/>
          </p:nvSpPr>
          <p:spPr>
            <a:xfrm>
              <a:off x="1458113" y="3696983"/>
              <a:ext cx="327334" cy="40011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uz-Cyrl-UZ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Dotum" pitchFamily="34" charset="-127"/>
                  <a:cs typeface="Arial" pitchFamily="34" charset="0"/>
                  <a:sym typeface="Dotum" pitchFamily="34" charset="-127"/>
                </a:rPr>
                <a:t>2</a:t>
              </a:r>
              <a:endParaRPr lang="ru-RU" sz="2000" dirty="0"/>
            </a:p>
          </p:txBody>
        </p:sp>
      </p:grpSp>
      <p:sp>
        <p:nvSpPr>
          <p:cNvPr id="97" name="AutoShape 8"/>
          <p:cNvSpPr>
            <a:spLocks noChangeArrowheads="1"/>
          </p:cNvSpPr>
          <p:nvPr/>
        </p:nvSpPr>
        <p:spPr bwMode="gray">
          <a:xfrm>
            <a:off x="738794" y="3981419"/>
            <a:ext cx="3309312" cy="398580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fontAlgn="base" hangingPunct="0">
              <a:spcBef>
                <a:spcPts val="600"/>
              </a:spcBef>
            </a:pPr>
            <a:r>
              <a:rPr lang="ru-RU" sz="1600" b="1" dirty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ru-RU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en-US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TJ</a:t>
            </a:r>
            <a:r>
              <a:rPr lang="uz-Cyrl-UZ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сўровнома </a:t>
            </a:r>
            <a:r>
              <a:rPr lang="ru-RU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uz-Cyrl-UZ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чораклик</a:t>
            </a:r>
            <a:r>
              <a:rPr lang="ru-RU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4074" y="4846451"/>
            <a:ext cx="1122772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Маълумотларнинг шаклланиш жараёнида бошқа манба маълумотларининг иштироки</a:t>
            </a:r>
            <a:endParaRPr lang="uz-Cyrl-UZ" b="1" dirty="0">
              <a:solidFill>
                <a:schemeClr val="bg1"/>
              </a:solidFill>
              <a:latin typeface="Arial" pitchFamily="34" charset="0"/>
              <a:ea typeface="Cambria Math" panose="02040503050406030204" pitchFamily="18" charset="0"/>
              <a:cs typeface="Arial" pitchFamily="34" charset="0"/>
            </a:endParaRPr>
          </a:p>
        </p:txBody>
      </p:sp>
      <p:grpSp>
        <p:nvGrpSpPr>
          <p:cNvPr id="4" name="Группа 103"/>
          <p:cNvGrpSpPr/>
          <p:nvPr/>
        </p:nvGrpSpPr>
        <p:grpSpPr>
          <a:xfrm>
            <a:off x="86262" y="4814443"/>
            <a:ext cx="457200" cy="457200"/>
            <a:chOff x="1404590" y="3670109"/>
            <a:chExt cx="457200" cy="457200"/>
          </a:xfrm>
          <a:solidFill>
            <a:schemeClr val="accent2">
              <a:lumMod val="60000"/>
              <a:lumOff val="40000"/>
            </a:schemeClr>
          </a:solidFill>
          <a:effectLst>
            <a:outerShdw blurRad="114300" dist="50800" dir="3000000" sx="107000" sy="107000" algn="tl" rotWithShape="0">
              <a:prstClr val="black">
                <a:alpha val="40000"/>
              </a:prstClr>
            </a:outerShdw>
          </a:effectLst>
        </p:grpSpPr>
        <p:sp>
          <p:nvSpPr>
            <p:cNvPr id="105" name="Oval 7"/>
            <p:cNvSpPr/>
            <p:nvPr/>
          </p:nvSpPr>
          <p:spPr>
            <a:xfrm>
              <a:off x="1404590" y="3670109"/>
              <a:ext cx="457200" cy="4572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Arial Black" pitchFamily="34" charset="0"/>
              </a:endParaRPr>
            </a:p>
          </p:txBody>
        </p:sp>
        <p:sp>
          <p:nvSpPr>
            <p:cNvPr id="106" name="Прямоугольник 105"/>
            <p:cNvSpPr/>
            <p:nvPr/>
          </p:nvSpPr>
          <p:spPr>
            <a:xfrm>
              <a:off x="1470813" y="3709683"/>
              <a:ext cx="327334" cy="40011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uz-Cyrl-UZ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Dotum" pitchFamily="34" charset="-127"/>
                  <a:cs typeface="Arial" pitchFamily="34" charset="0"/>
                  <a:sym typeface="Dotum" pitchFamily="34" charset="-127"/>
                </a:rPr>
                <a:t>3</a:t>
              </a:r>
              <a:endParaRPr lang="ru-RU" sz="2000" dirty="0"/>
            </a:p>
          </p:txBody>
        </p:sp>
      </p:grpSp>
      <p:sp>
        <p:nvSpPr>
          <p:cNvPr id="112" name="AutoShape 8"/>
          <p:cNvSpPr>
            <a:spLocks noChangeArrowheads="1"/>
          </p:cNvSpPr>
          <p:nvPr/>
        </p:nvSpPr>
        <p:spPr bwMode="gray">
          <a:xfrm>
            <a:off x="7902593" y="5502235"/>
            <a:ext cx="3600000" cy="360000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eaLnBrk="0" fontAlgn="base" hangingPunct="0">
              <a:spcBef>
                <a:spcPts val="600"/>
              </a:spcBef>
            </a:pP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Солиқ қўмитаси маълумотлари</a:t>
            </a:r>
            <a:endParaRPr lang="ru-RU" sz="1500" b="1" dirty="0" smtClean="0">
              <a:solidFill>
                <a:srgbClr val="2847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3" name="AutoShape 8"/>
          <p:cNvSpPr>
            <a:spLocks noChangeArrowheads="1"/>
          </p:cNvSpPr>
          <p:nvPr/>
        </p:nvSpPr>
        <p:spPr bwMode="gray">
          <a:xfrm>
            <a:off x="1882571" y="5497512"/>
            <a:ext cx="3600000" cy="360000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eaLnBrk="0" fontAlgn="base" hangingPunct="0">
              <a:spcBef>
                <a:spcPts val="600"/>
              </a:spcBef>
            </a:pP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Божхона қўмитаси маълумотлари</a:t>
            </a:r>
            <a:endParaRPr lang="ru-RU" sz="1500" b="1" dirty="0" smtClean="0">
              <a:solidFill>
                <a:srgbClr val="28478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15" name="Прямая соединительная линия 114"/>
          <p:cNvCxnSpPr/>
          <p:nvPr/>
        </p:nvCxnSpPr>
        <p:spPr>
          <a:xfrm flipH="1">
            <a:off x="4129216" y="1313357"/>
            <a:ext cx="794" cy="1802606"/>
          </a:xfrm>
          <a:prstGeom prst="line">
            <a:avLst/>
          </a:prstGeom>
          <a:ln w="349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единительная линия 115"/>
          <p:cNvCxnSpPr/>
          <p:nvPr/>
        </p:nvCxnSpPr>
        <p:spPr>
          <a:xfrm flipH="1">
            <a:off x="8026400" y="1346994"/>
            <a:ext cx="794" cy="1739106"/>
          </a:xfrm>
          <a:prstGeom prst="line">
            <a:avLst/>
          </a:prstGeom>
          <a:ln w="349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AutoShape 8"/>
          <p:cNvSpPr>
            <a:spLocks noChangeArrowheads="1"/>
          </p:cNvSpPr>
          <p:nvPr/>
        </p:nvSpPr>
        <p:spPr bwMode="gray">
          <a:xfrm>
            <a:off x="562576" y="1455559"/>
            <a:ext cx="3258976" cy="360000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КТЯДР маълумотлари </a:t>
            </a:r>
            <a:endParaRPr lang="ru-RU" sz="1500" b="1" dirty="0" smtClean="0">
              <a:solidFill>
                <a:srgbClr val="2847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7" name="AutoShape 8"/>
          <p:cNvSpPr>
            <a:spLocks noChangeArrowheads="1"/>
          </p:cNvSpPr>
          <p:nvPr/>
        </p:nvSpPr>
        <p:spPr bwMode="gray">
          <a:xfrm>
            <a:off x="8585800" y="2535744"/>
            <a:ext cx="3276000" cy="428754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1-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NNT</a:t>
            </a: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        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йиллик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68" name="AutoShape 8"/>
          <p:cNvSpPr>
            <a:spLocks noChangeArrowheads="1"/>
          </p:cNvSpPr>
          <p:nvPr/>
        </p:nvSpPr>
        <p:spPr bwMode="gray">
          <a:xfrm>
            <a:off x="4585065" y="1913869"/>
            <a:ext cx="3401555" cy="432000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qurilish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  (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jismoniy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69" name="AutoShape 8"/>
          <p:cNvSpPr>
            <a:spLocks noChangeArrowheads="1"/>
          </p:cNvSpPr>
          <p:nvPr/>
        </p:nvSpPr>
        <p:spPr bwMode="gray">
          <a:xfrm>
            <a:off x="4585713" y="1345934"/>
            <a:ext cx="3351473" cy="428754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Invest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 (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asosiy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pic>
        <p:nvPicPr>
          <p:cNvPr id="70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12463" y="1436336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71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16408" y="1478905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23077" y="5432369"/>
            <a:ext cx="730988" cy="499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9546" y="5420385"/>
            <a:ext cx="765545" cy="586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" name="AutoShape 8"/>
          <p:cNvSpPr>
            <a:spLocks noChangeArrowheads="1"/>
          </p:cNvSpPr>
          <p:nvPr/>
        </p:nvSpPr>
        <p:spPr bwMode="gray">
          <a:xfrm>
            <a:off x="8530924" y="1308908"/>
            <a:ext cx="3385752" cy="428754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1-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FX</a:t>
            </a: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       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 (йиллик)</a:t>
            </a:r>
          </a:p>
        </p:txBody>
      </p:sp>
      <p:cxnSp>
        <p:nvCxnSpPr>
          <p:cNvPr id="61" name="Прямая соединительная линия 60"/>
          <p:cNvCxnSpPr/>
          <p:nvPr/>
        </p:nvCxnSpPr>
        <p:spPr>
          <a:xfrm>
            <a:off x="4143632" y="3772930"/>
            <a:ext cx="0" cy="807308"/>
          </a:xfrm>
          <a:prstGeom prst="line">
            <a:avLst/>
          </a:prstGeom>
          <a:ln w="349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единительная линия 89"/>
          <p:cNvCxnSpPr/>
          <p:nvPr/>
        </p:nvCxnSpPr>
        <p:spPr>
          <a:xfrm>
            <a:off x="8056605" y="3814119"/>
            <a:ext cx="0" cy="803189"/>
          </a:xfrm>
          <a:prstGeom prst="line">
            <a:avLst/>
          </a:prstGeom>
          <a:ln w="3492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AutoShape 8"/>
          <p:cNvSpPr>
            <a:spLocks noChangeArrowheads="1"/>
          </p:cNvSpPr>
          <p:nvPr/>
        </p:nvSpPr>
        <p:spPr bwMode="gray">
          <a:xfrm>
            <a:off x="4593281" y="3998711"/>
            <a:ext cx="3309312" cy="398580"/>
          </a:xfrm>
          <a:prstGeom prst="roundRect">
            <a:avLst>
              <a:gd name="adj" fmla="val 50000"/>
            </a:avLst>
          </a:prstGeom>
          <a:noFill/>
          <a:ln>
            <a:headEnd/>
            <a:tailEnd/>
          </a:ln>
          <a:ex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fontAlgn="base" hangingPunct="0">
              <a:spcBef>
                <a:spcPts val="600"/>
              </a:spcBef>
            </a:pPr>
            <a:r>
              <a:rPr lang="ru-RU" sz="1600" b="1" dirty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ru-RU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en-US" sz="16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bozor narxlari blankasi</a:t>
            </a:r>
            <a:endParaRPr lang="ru-RU" sz="1600" b="1" dirty="0" smtClean="0">
              <a:solidFill>
                <a:srgbClr val="28478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1" name="Picture 2" descr="ÐÐ°ÑÑÐ¸Ð½ÐºÐ¸ Ð¿Ð¾ Ð·Ð°Ð¿ÑÐ¾ÑÑ apply 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2316" y="1514945"/>
            <a:ext cx="332063" cy="230655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5124951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19" b="64960"/>
          <a:stretch/>
        </p:blipFill>
        <p:spPr>
          <a:xfrm>
            <a:off x="0" y="151"/>
            <a:ext cx="12192000" cy="683192"/>
          </a:xfrm>
          <a:prstGeom prst="rect">
            <a:avLst/>
          </a:prstGeom>
        </p:spPr>
      </p:pic>
      <p:sp>
        <p:nvSpPr>
          <p:cNvPr id="58" name="Прямоугольник 57"/>
          <p:cNvSpPr/>
          <p:nvPr/>
        </p:nvSpPr>
        <p:spPr>
          <a:xfrm>
            <a:off x="0" y="-4185"/>
            <a:ext cx="12192000" cy="686501"/>
          </a:xfrm>
          <a:prstGeom prst="rect">
            <a:avLst/>
          </a:prstGeom>
          <a:solidFill>
            <a:schemeClr val="accent1">
              <a:lumMod val="50000"/>
              <a:alpha val="8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69" dirty="0"/>
          </a:p>
        </p:txBody>
      </p:sp>
      <p:sp>
        <p:nvSpPr>
          <p:cNvPr id="60" name="Прямоугольник 59"/>
          <p:cNvSpPr/>
          <p:nvPr/>
        </p:nvSpPr>
        <p:spPr>
          <a:xfrm>
            <a:off x="1763981" y="25322"/>
            <a:ext cx="9077644" cy="654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sz="1825" b="1" dirty="0" smtClean="0">
                <a:solidFill>
                  <a:schemeClr val="bg1"/>
                </a:solidFill>
                <a:latin typeface="Arial" panose="020B0604020202020204" pitchFamily="34" charset="0"/>
                <a:ea typeface="Cambria" pitchFamily="18" charset="0"/>
                <a:cs typeface="Arial" panose="020B0604020202020204" pitchFamily="34" charset="0"/>
              </a:rPr>
              <a:t>Юридик </a:t>
            </a:r>
            <a:r>
              <a:rPr lang="uz-Cyrl-UZ" sz="1825" b="1" dirty="0">
                <a:solidFill>
                  <a:schemeClr val="bg1"/>
                </a:solidFill>
                <a:latin typeface="Arial" panose="020B0604020202020204" pitchFamily="34" charset="0"/>
                <a:ea typeface="Cambria" pitchFamily="18" charset="0"/>
                <a:cs typeface="Arial" panose="020B0604020202020204" pitchFamily="34" charset="0"/>
              </a:rPr>
              <a:t>ва жисмоний шахслар томонидан </a:t>
            </a:r>
            <a:r>
              <a:rPr lang="uz-Cyrl-UZ" sz="1825" b="1" dirty="0" smtClean="0">
                <a:solidFill>
                  <a:schemeClr val="bg1"/>
                </a:solidFill>
                <a:latin typeface="Arial" panose="020B0604020202020204" pitchFamily="34" charset="0"/>
                <a:ea typeface="Cambria" pitchFamily="18" charset="0"/>
                <a:cs typeface="Arial" panose="020B0604020202020204" pitchFamily="34" charset="0"/>
              </a:rPr>
              <a:t>асосий капиталга ўзлаштирилган инвестицияларни шаклланиш тартиби</a:t>
            </a:r>
            <a:endParaRPr lang="uz-Cyrl-UZ" sz="1825" b="1" dirty="0">
              <a:solidFill>
                <a:schemeClr val="bg1"/>
              </a:solidFill>
              <a:latin typeface="Arial" panose="020B0604020202020204" pitchFamily="34" charset="0"/>
              <a:ea typeface="Cambria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18" name="Схема 17"/>
          <p:cNvGraphicFramePr/>
          <p:nvPr>
            <p:extLst>
              <p:ext uri="{D42A27DB-BD31-4B8C-83A1-F6EECF244321}">
                <p14:modId xmlns:p14="http://schemas.microsoft.com/office/powerpoint/2010/main" val="492701635"/>
              </p:ext>
            </p:extLst>
          </p:nvPr>
        </p:nvGraphicFramePr>
        <p:xfrm>
          <a:off x="159341" y="873256"/>
          <a:ext cx="11674162" cy="5795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362" y="1097700"/>
            <a:ext cx="1672525" cy="17227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382" y="5036465"/>
            <a:ext cx="2266922" cy="1510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96422" y="873256"/>
            <a:ext cx="3039071" cy="794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521" b="1" dirty="0" smtClean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Чораклик </a:t>
            </a:r>
            <a:r>
              <a:rPr lang="uz-Cyrl-UZ" sz="1521" b="1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ва йиллик даврийликдаги статистик хисоботлар асосида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9808" y="3956719"/>
            <a:ext cx="2932298" cy="794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521" b="1" dirty="0" smtClean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Кадастр органлари маълумотлари</a:t>
            </a:r>
            <a:r>
              <a:rPr lang="en-US" sz="1521" b="1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/>
            </a:r>
            <a:br>
              <a:rPr lang="en-US" sz="1521" b="1" dirty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</a:br>
            <a:r>
              <a:rPr lang="uz-Cyrl-UZ" sz="1521" b="1" dirty="0" smtClean="0">
                <a:solidFill>
                  <a:schemeClr val="accent5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асосида</a:t>
            </a:r>
            <a:endParaRPr lang="ru-RU" sz="1521" b="1" dirty="0">
              <a:solidFill>
                <a:schemeClr val="accent5">
                  <a:lumMod val="75000"/>
                </a:schemeClr>
              </a:solidFill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1" name="Picture 3" descr="\\807-2\1. Social\UZSTAT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30485" y="38100"/>
            <a:ext cx="622015" cy="622015"/>
          </a:xfrm>
          <a:prstGeom prst="rect">
            <a:avLst/>
          </a:prstGeom>
          <a:noFill/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1204026" y="-8716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11018067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11267508" y="217185"/>
            <a:ext cx="752475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925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037316" y="0"/>
            <a:ext cx="102650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Ассосий капиталга ўзлаштирилган инвестициялар ҳажмини </a:t>
            </a:r>
            <a:b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ҳисоблаш жадвали. 2024 йил январь-декабрь ойлари</a:t>
            </a:r>
            <a:endParaRPr lang="ru-RU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11267508" y="217185"/>
            <a:ext cx="752475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11018067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" descr="\\807-2\1. Social\UZSTA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0485" y="38100"/>
            <a:ext cx="622015" cy="622015"/>
          </a:xfrm>
          <a:prstGeom prst="rect">
            <a:avLst/>
          </a:prstGeom>
          <a:noFill/>
        </p:spPr>
      </p:pic>
      <p:cxnSp>
        <p:nvCxnSpPr>
          <p:cNvPr id="34" name="Прямая соединительная линия 33"/>
          <p:cNvCxnSpPr/>
          <p:nvPr/>
        </p:nvCxnSpPr>
        <p:spPr>
          <a:xfrm>
            <a:off x="1312092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6723324" y="1066800"/>
            <a:ext cx="0" cy="46783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Таблица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024365"/>
              </p:ext>
            </p:extLst>
          </p:nvPr>
        </p:nvGraphicFramePr>
        <p:xfrm>
          <a:off x="498187" y="919160"/>
          <a:ext cx="11362634" cy="55964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0012">
                  <a:extLst>
                    <a:ext uri="{9D8B030D-6E8A-4147-A177-3AD203B41FA5}">
                      <a16:colId xmlns:a16="http://schemas.microsoft.com/office/drawing/2014/main" val="828442263"/>
                    </a:ext>
                  </a:extLst>
                </a:gridCol>
                <a:gridCol w="3465916">
                  <a:extLst>
                    <a:ext uri="{9D8B030D-6E8A-4147-A177-3AD203B41FA5}">
                      <a16:colId xmlns:a16="http://schemas.microsoft.com/office/drawing/2014/main" val="1030188171"/>
                    </a:ext>
                  </a:extLst>
                </a:gridCol>
                <a:gridCol w="820012">
                  <a:extLst>
                    <a:ext uri="{9D8B030D-6E8A-4147-A177-3AD203B41FA5}">
                      <a16:colId xmlns:a16="http://schemas.microsoft.com/office/drawing/2014/main" val="3194288311"/>
                    </a:ext>
                  </a:extLst>
                </a:gridCol>
                <a:gridCol w="841879">
                  <a:extLst>
                    <a:ext uri="{9D8B030D-6E8A-4147-A177-3AD203B41FA5}">
                      <a16:colId xmlns:a16="http://schemas.microsoft.com/office/drawing/2014/main" val="3134986207"/>
                    </a:ext>
                  </a:extLst>
                </a:gridCol>
                <a:gridCol w="841879">
                  <a:extLst>
                    <a:ext uri="{9D8B030D-6E8A-4147-A177-3AD203B41FA5}">
                      <a16:colId xmlns:a16="http://schemas.microsoft.com/office/drawing/2014/main" val="1131900369"/>
                    </a:ext>
                  </a:extLst>
                </a:gridCol>
                <a:gridCol w="844612">
                  <a:extLst>
                    <a:ext uri="{9D8B030D-6E8A-4147-A177-3AD203B41FA5}">
                      <a16:colId xmlns:a16="http://schemas.microsoft.com/office/drawing/2014/main" val="3912675083"/>
                    </a:ext>
                  </a:extLst>
                </a:gridCol>
                <a:gridCol w="874679">
                  <a:extLst>
                    <a:ext uri="{9D8B030D-6E8A-4147-A177-3AD203B41FA5}">
                      <a16:colId xmlns:a16="http://schemas.microsoft.com/office/drawing/2014/main" val="2960615323"/>
                    </a:ext>
                  </a:extLst>
                </a:gridCol>
                <a:gridCol w="951215">
                  <a:extLst>
                    <a:ext uri="{9D8B030D-6E8A-4147-A177-3AD203B41FA5}">
                      <a16:colId xmlns:a16="http://schemas.microsoft.com/office/drawing/2014/main" val="4005775718"/>
                    </a:ext>
                  </a:extLst>
                </a:gridCol>
                <a:gridCol w="951215">
                  <a:extLst>
                    <a:ext uri="{9D8B030D-6E8A-4147-A177-3AD203B41FA5}">
                      <a16:colId xmlns:a16="http://schemas.microsoft.com/office/drawing/2014/main" val="1793001565"/>
                    </a:ext>
                  </a:extLst>
                </a:gridCol>
                <a:gridCol w="951215">
                  <a:extLst>
                    <a:ext uri="{9D8B030D-6E8A-4147-A177-3AD203B41FA5}">
                      <a16:colId xmlns:a16="http://schemas.microsoft.com/office/drawing/2014/main" val="135836309"/>
                    </a:ext>
                  </a:extLst>
                </a:gridCol>
              </a:tblGrid>
              <a:tr h="182954"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64" marR="4364" marT="43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64" marR="4364" marT="436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64" marR="4364" marT="436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64" marR="4364" marT="436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64" marR="4364" marT="43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64" marR="4364" marT="43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64" marR="4364" marT="43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64" marR="4364" marT="436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64" marR="4364" marT="43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млрд.сўм</a:t>
                      </a:r>
                      <a:endParaRPr lang="ru-RU" sz="11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b"/>
                </a:tc>
                <a:extLst>
                  <a:ext uri="{0D108BD9-81ED-4DB2-BD59-A6C34878D82A}">
                    <a16:rowId xmlns:a16="http://schemas.microsoft.com/office/drawing/2014/main" val="2537751703"/>
                  </a:ext>
                </a:extLst>
              </a:tr>
              <a:tr h="30106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Т/р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b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 йил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 йил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Улуши %да</a:t>
                      </a:r>
                      <a:endParaRPr lang="ru-RU" sz="1200" b="1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332629"/>
                  </a:ext>
                </a:extLst>
              </a:tr>
              <a:tr h="70247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Ҳажм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Ўсиш сураъти, </a:t>
                      </a:r>
                      <a:b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да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Индекс дефлятор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Ҳажм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Ўсиш сураъти, </a:t>
                      </a:r>
                      <a:b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да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Индекс дефлятор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 йил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 йил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extLst>
                  <a:ext uri="{0D108BD9-81ED-4DB2-BD59-A6C34878D82A}">
                    <a16:rowId xmlns:a16="http://schemas.microsoft.com/office/drawing/2014/main" val="2555639190"/>
                  </a:ext>
                </a:extLst>
              </a:tr>
              <a:tr h="228585">
                <a:tc>
                  <a:txBody>
                    <a:bodyPr/>
                    <a:lstStyle/>
                    <a:p>
                      <a:pPr algn="ctr" fontAlgn="ctr"/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extLst>
                  <a:ext uri="{0D108BD9-81ED-4DB2-BD59-A6C34878D82A}">
                    <a16:rowId xmlns:a16="http://schemas.microsoft.com/office/drawing/2014/main" val="832272504"/>
                  </a:ext>
                </a:extLst>
              </a:tr>
              <a:tr h="418142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Ўзбекистон Республикаси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356071,4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123,4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108,4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493652,0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127,6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108,6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100,0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100,0</a:t>
                      </a:r>
                      <a:endParaRPr lang="ru-RU" sz="12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extLst>
                  <a:ext uri="{0D108BD9-81ED-4DB2-BD59-A6C34878D82A}">
                    <a16:rowId xmlns:a16="http://schemas.microsoft.com/office/drawing/2014/main" val="1881018"/>
                  </a:ext>
                </a:extLst>
              </a:tr>
              <a:tr h="4181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Йирик жами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183795,8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119,6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117,9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224140,6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112,4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108,5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51,6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45,4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104677"/>
                  </a:ext>
                </a:extLst>
              </a:tr>
              <a:tr h="4181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Кичик корхона ва микрофирмалар жами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145842,8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135,3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107,8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222712,0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140,7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108,5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41,0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45,1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extLst>
                  <a:ext uri="{0D108BD9-81ED-4DB2-BD59-A6C34878D82A}">
                    <a16:rowId xmlns:a16="http://schemas.microsoft.com/office/drawing/2014/main" val="1775372749"/>
                  </a:ext>
                </a:extLst>
              </a:tr>
              <a:tr h="4181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Нотижорат</a:t>
                      </a:r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корхоналари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4746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10519,6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139,1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108,0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12805,3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112,3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108,4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3,0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2,6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721567"/>
                  </a:ext>
                </a:extLst>
              </a:tr>
              <a:tr h="4181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IV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Фермер хўжаликлари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4746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1374,2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56,8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107,3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1808,4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121,7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108,1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0,4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extLst>
                  <a:ext uri="{0D108BD9-81ED-4DB2-BD59-A6C34878D82A}">
                    <a16:rowId xmlns:a16="http://schemas.microsoft.com/office/drawing/2014/main" val="3036390896"/>
                  </a:ext>
                </a:extLst>
              </a:tr>
              <a:tr h="4181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Норасмий сектор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29413,5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103,6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111,8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31363,3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98,7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108,0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8,3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6,4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475219"/>
                  </a:ext>
                </a:extLst>
              </a:tr>
              <a:tr h="41814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ЯТТҚ   (ИЖС)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21537,4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110,8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111,2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23284,6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100,5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107,6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4,7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extLst>
                  <a:ext uri="{0D108BD9-81ED-4DB2-BD59-A6C34878D82A}">
                    <a16:rowId xmlns:a16="http://schemas.microsoft.com/office/drawing/2014/main" val="204469347"/>
                  </a:ext>
                </a:extLst>
              </a:tr>
              <a:tr h="41814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ЯТНҚ   (ЧС)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4011,9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82,3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113,1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3941,1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91,5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107,4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735542"/>
                  </a:ext>
                </a:extLst>
              </a:tr>
              <a:tr h="41814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Кўп хонадонли турар жой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120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209,7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101,6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108,3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197,1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86,6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108,5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0,1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0,0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/>
                </a:tc>
                <a:extLst>
                  <a:ext uri="{0D108BD9-81ED-4DB2-BD59-A6C34878D82A}">
                    <a16:rowId xmlns:a16="http://schemas.microsoft.com/office/drawing/2014/main" val="1642079358"/>
                  </a:ext>
                </a:extLst>
              </a:tr>
              <a:tr h="41814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Қишлоқ</a:t>
                      </a:r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уй</a:t>
                      </a:r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хўжалиги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7120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3654,5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93,5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114,3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3940,5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97,0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111,2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64" marR="4364" marT="436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61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762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0" y="-1"/>
            <a:ext cx="12192000" cy="7874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Асосий капиталга киритилган инвестициялар ҳажмининг </a:t>
            </a:r>
          </a:p>
          <a:p>
            <a:pPr algn="ctr"/>
            <a:r>
              <a:rPr lang="uz-Cyrl-UZ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молиялаштириш манбалари</a:t>
            </a:r>
            <a:endParaRPr lang="ru-RU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" name="Picture 3" descr="\\807-2\1. Social\UZSTA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570" y="62801"/>
            <a:ext cx="790832" cy="720000"/>
          </a:xfrm>
          <a:prstGeom prst="rect">
            <a:avLst/>
          </a:prstGeom>
          <a:noFill/>
        </p:spPr>
      </p:pic>
      <p:cxnSp>
        <p:nvCxnSpPr>
          <p:cNvPr id="21" name="Прямая соединительная линия 20"/>
          <p:cNvCxnSpPr/>
          <p:nvPr/>
        </p:nvCxnSpPr>
        <p:spPr>
          <a:xfrm>
            <a:off x="1079500" y="0"/>
            <a:ext cx="346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11267508" y="164020"/>
            <a:ext cx="752475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9</a:t>
            </a:r>
            <a:endParaRPr lang="ru-RU" sz="2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>
            <a:off x="11023600" y="0"/>
            <a:ext cx="3522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3094"/>
              </p:ext>
            </p:extLst>
          </p:nvPr>
        </p:nvGraphicFramePr>
        <p:xfrm>
          <a:off x="132936" y="823781"/>
          <a:ext cx="11896008" cy="602314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4764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3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2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42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59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9252">
                <a:tc rowSpan="2">
                  <a:txBody>
                    <a:bodyPr/>
                    <a:lstStyle/>
                    <a:p>
                      <a:pPr indent="338455" algn="just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uz-Cyrl-UZ" sz="1100" dirty="0" smtClean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11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F2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2000" b="1" kern="120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2023 йил</a:t>
                      </a:r>
                      <a:endParaRPr lang="ru-RU" sz="2000" b="1" kern="120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uz-Cyrl-UZ" sz="1800" b="1" kern="1200" dirty="0" smtClean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ru-RU" sz="1800" b="1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E2F0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2000" b="1" kern="120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2024 </a:t>
                      </a:r>
                      <a:r>
                        <a:rPr lang="uz-Cyrl-UZ" sz="2000" b="1" kern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йил </a:t>
                      </a:r>
                      <a:r>
                        <a:rPr lang="en-US" sz="2000" b="1" kern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z-Cyrl-UZ" sz="2000" b="1" kern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январь-декабрь</a:t>
                      </a:r>
                      <a:endParaRPr lang="ru-RU" sz="2000" b="1" kern="120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uz-Cyrl-UZ" sz="1800" b="1" kern="1200" baseline="0" dirty="0" smtClean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 smtClean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929">
                <a:tc vMerge="1">
                  <a:txBody>
                    <a:bodyPr/>
                    <a:lstStyle/>
                    <a:p>
                      <a:pPr indent="338455" algn="just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uz-Cyrl-UZ" sz="1800" b="1" kern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Млрд. сўм</a:t>
                      </a:r>
                      <a:endParaRPr lang="ru-RU" sz="18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uz-Cyrl-UZ" sz="1800" b="1" kern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Ўсиш суръати % да</a:t>
                      </a:r>
                    </a:p>
                  </a:txBody>
                  <a:tcPr marL="68580" marR="6858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uz-Cyrl-UZ" sz="1800" b="1" kern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жамига нисбатан % да</a:t>
                      </a:r>
                      <a:endParaRPr lang="ru-RU" sz="18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uz-Cyrl-UZ" sz="1800" b="1" kern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Млрд. сўм</a:t>
                      </a:r>
                      <a:endParaRPr lang="ru-RU" sz="18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 b="1" kern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Ўсиш</a:t>
                      </a:r>
                      <a:r>
                        <a:rPr lang="uz-Cyrl-UZ" sz="1800" b="1" kern="12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суръати % да</a:t>
                      </a:r>
                    </a:p>
                  </a:txBody>
                  <a:tcPr marL="68580" marR="68580" marT="0" marB="0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 b="1" kern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жамига нисбатан % да</a:t>
                      </a:r>
                      <a:endParaRPr lang="ru-RU" sz="1800" b="1" kern="120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7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ЖАМИ</a:t>
                      </a:r>
                    </a:p>
                  </a:txBody>
                  <a:tcPr marL="68580" marR="68580" marT="0" marB="0" anchor="ctr"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b="1" kern="1200" dirty="0" smtClean="0">
                          <a:solidFill>
                            <a:srgbClr val="2F5597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356 071,4</a:t>
                      </a:r>
                      <a:endParaRPr lang="en-US" sz="1600" b="1" kern="1200" dirty="0" smtClean="0">
                        <a:solidFill>
                          <a:srgbClr val="2F5597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kern="1200" smtClean="0">
                          <a:solidFill>
                            <a:srgbClr val="2F5597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</a:t>
                      </a:r>
                      <a:r>
                        <a:rPr lang="uz-Cyrl-UZ" sz="1600" b="1" kern="1200" smtClean="0">
                          <a:solidFill>
                            <a:srgbClr val="2F5597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23,4</a:t>
                      </a:r>
                      <a:endParaRPr lang="ru-RU" sz="1600" b="1" kern="1200" dirty="0">
                        <a:solidFill>
                          <a:srgbClr val="2F5597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kern="1200" dirty="0" smtClean="0">
                          <a:solidFill>
                            <a:srgbClr val="2F5597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100</a:t>
                      </a:r>
                      <a:r>
                        <a:rPr lang="ru-RU" sz="1600" b="1" kern="1200" dirty="0" smtClean="0">
                          <a:solidFill>
                            <a:srgbClr val="2F5597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,0</a:t>
                      </a:r>
                      <a:endParaRPr lang="ru-RU" sz="1600" b="1" kern="1200" dirty="0">
                        <a:solidFill>
                          <a:srgbClr val="2F5597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kern="1200" dirty="0" smtClean="0">
                          <a:solidFill>
                            <a:srgbClr val="2F5597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493 652,0</a:t>
                      </a:r>
                      <a:endParaRPr lang="ru-RU" sz="1600" b="1" kern="1200" dirty="0">
                        <a:solidFill>
                          <a:srgbClr val="2F5597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kern="1200" smtClean="0">
                          <a:solidFill>
                            <a:srgbClr val="2F5597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127,6</a:t>
                      </a:r>
                      <a:endParaRPr lang="ru-RU" sz="1600" b="1" kern="1200" dirty="0">
                        <a:solidFill>
                          <a:srgbClr val="2F5597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kern="1200" dirty="0" smtClean="0">
                          <a:solidFill>
                            <a:srgbClr val="2F5597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100,0</a:t>
                      </a:r>
                      <a:endParaRPr lang="ru-RU" sz="1600" b="1" kern="1200" dirty="0">
                        <a:solidFill>
                          <a:srgbClr val="2F5597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715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Марказлашган молиялаштириш манбалари</a:t>
                      </a:r>
                    </a:p>
                  </a:txBody>
                  <a:tcPr marL="68580" marR="68580" marT="0" marB="0" anchor="ctr">
                    <a:solidFill>
                      <a:srgbClr val="E8F3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49 898,7</a:t>
                      </a:r>
                      <a:endParaRPr lang="ru-RU" sz="16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kern="1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110,4</a:t>
                      </a:r>
                      <a:endParaRPr lang="ru-RU" sz="16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kern="1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14,0</a:t>
                      </a:r>
                      <a:endParaRPr lang="ru-RU" sz="16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51 827,9</a:t>
                      </a:r>
                      <a:endParaRPr lang="ru-RU" sz="16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kern="1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95,8</a:t>
                      </a:r>
                      <a:endParaRPr lang="ru-RU" sz="16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1" kern="1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10,5</a:t>
                      </a:r>
                      <a:endParaRPr lang="ru-RU" sz="1600" b="1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15">
                <a:tc>
                  <a:txBody>
                    <a:bodyPr/>
                    <a:lstStyle/>
                    <a:p>
                      <a:pPr marL="288290" algn="l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шу жумладан: </a:t>
                      </a:r>
                      <a:endParaRPr lang="ru-RU" sz="1600" b="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kern="120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281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  </a:t>
                      </a: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Давлат</a:t>
                      </a:r>
                      <a:r>
                        <a:rPr lang="ru-RU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бюджет маблағлари</a:t>
                      </a:r>
                      <a:endParaRPr lang="ru-RU" sz="1600" b="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23 297,8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101,0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6,5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22 800,3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90,3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4,6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707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  </a:t>
                      </a: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Сув таъминоти ва канализация тизимларини ривожлантириш жамғармаси маблағлари</a:t>
                      </a:r>
                      <a:endParaRPr lang="ru-RU" sz="1600" b="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2 138,8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68,1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0,6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1 849,0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79,9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0,4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715">
                <a:tc>
                  <a:txBody>
                    <a:bodyPr/>
                    <a:lstStyle/>
                    <a:p>
                      <a:pPr marL="107950" algn="l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Тикланиш ва тараққиёт жамғармаси</a:t>
                      </a:r>
                      <a:endParaRPr lang="ru-RU" sz="1600" b="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2070,7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76,3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0,6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3545,5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157,1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0,7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5431">
                <a:tc>
                  <a:txBody>
                    <a:bodyPr/>
                    <a:lstStyle/>
                    <a:p>
                      <a:pPr marL="10795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Ўзбекистон Республикаси ҳукумат кафолати</a:t>
                      </a:r>
                      <a:endParaRPr lang="en-US" sz="1600" b="0" kern="1200" dirty="0" smtClean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  <a:p>
                      <a:pPr marL="10795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остидаги  чет эл инвестиция  ва  кредитлари. </a:t>
                      </a:r>
                      <a:endParaRPr lang="ru-RU" sz="1600" b="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22391,4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137,6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6,3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23633,1</a:t>
                      </a:r>
                      <a:endParaRPr lang="ru-RU" sz="1600" kern="1200" dirty="0" smtClean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97,4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4,8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715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Марказлаш</a:t>
                      </a:r>
                      <a:r>
                        <a:rPr lang="ru-RU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ма</a:t>
                      </a: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ган молиялаштириш манбалари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306172,7</a:t>
                      </a:r>
                      <a:endParaRPr lang="ru-RU" sz="1600" b="1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125,8</a:t>
                      </a:r>
                      <a:endParaRPr lang="ru-RU" sz="1600" b="1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86,0</a:t>
                      </a:r>
                      <a:endParaRPr lang="ru-RU" sz="1600" b="1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441824,1</a:t>
                      </a:r>
                      <a:endParaRPr lang="ru-RU" sz="1600" b="1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132,8</a:t>
                      </a:r>
                      <a:endParaRPr lang="ru-RU" sz="1600" b="1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89,5</a:t>
                      </a:r>
                      <a:endParaRPr lang="ru-RU" sz="1600" b="1" kern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715">
                <a:tc>
                  <a:txBody>
                    <a:bodyPr/>
                    <a:lstStyle/>
                    <a:p>
                      <a:pPr marL="107950" marR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  шу жумладан: </a:t>
                      </a:r>
                      <a:endParaRPr lang="ru-RU" sz="1600" b="0" kern="1200" dirty="0" smtClean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2715">
                <a:tc>
                  <a:txBody>
                    <a:bodyPr/>
                    <a:lstStyle/>
                    <a:p>
                      <a:pPr marL="107950" marR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Корхоналарнинг ўз маблағлари</a:t>
                      </a:r>
                      <a:endParaRPr lang="ru-RU" sz="1600" b="0" kern="1200" dirty="0" smtClean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83314,7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95,4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23,4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86979,3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96,3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17,6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2715">
                <a:tc>
                  <a:txBody>
                    <a:bodyPr/>
                    <a:lstStyle/>
                    <a:p>
                      <a:pPr marL="107950" marR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Банк кредитлари ва бошқа қарз маблағлари</a:t>
                      </a:r>
                      <a:endParaRPr lang="ru-RU" sz="1600" b="0" kern="1200" dirty="0" smtClean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13574,8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72,0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3,8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12720,4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86,5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2,6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605431">
                <a:tc>
                  <a:txBody>
                    <a:bodyPr/>
                    <a:lstStyle/>
                    <a:p>
                      <a:pPr marL="107950" marR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Тўғридан-тўғри чет эл инвестициялари ва кредитлари</a:t>
                      </a:r>
                      <a:endParaRPr lang="ru-RU" sz="1600" b="0" kern="1200" dirty="0" smtClean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179300,7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167,8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50,4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310163,2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159,0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62,8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2715">
                <a:tc>
                  <a:txBody>
                    <a:bodyPr/>
                    <a:lstStyle/>
                    <a:p>
                      <a:pPr marL="107950" marR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600" b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Аҳоли маблағлари</a:t>
                      </a:r>
                      <a:endParaRPr lang="ru-RU" sz="1600" b="0" kern="1200" dirty="0" smtClean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29982,5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98,3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8,4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31961,2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98,7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z-Cyrl-UZ" sz="160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6,5</a:t>
                      </a:r>
                      <a:endParaRPr lang="ru-RU" sz="1600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7195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rgbClr val="2D50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69998" y="203968"/>
            <a:ext cx="96266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ЎЗБЕКИСТОН РЕСПУБЛИКАСИ ДАВЛАТ ИНВЕСТИЦИЯ ДАСТУРИ</a:t>
            </a:r>
            <a:endParaRPr lang="ru-RU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11267508" y="217185"/>
            <a:ext cx="752475" cy="276225"/>
          </a:xfrm>
          <a:prstGeom prst="rect">
            <a:avLst/>
          </a:prstGeom>
          <a:solidFill>
            <a:srgbClr val="2D50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11124397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3" descr="\\807-2\1. Social\UZSTA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527" y="42531"/>
            <a:ext cx="720000" cy="720000"/>
          </a:xfrm>
          <a:prstGeom prst="rect">
            <a:avLst/>
          </a:prstGeom>
          <a:noFill/>
        </p:spPr>
      </p:pic>
      <p:cxnSp>
        <p:nvCxnSpPr>
          <p:cNvPr id="50" name="Прямая соединительная линия 49"/>
          <p:cNvCxnSpPr/>
          <p:nvPr/>
        </p:nvCxnSpPr>
        <p:spPr>
          <a:xfrm>
            <a:off x="1046267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рямоугольник 34"/>
          <p:cNvSpPr/>
          <p:nvPr/>
        </p:nvSpPr>
        <p:spPr>
          <a:xfrm>
            <a:off x="2767915" y="874919"/>
            <a:ext cx="8954530" cy="83855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uz-Cyrl-UZ" b="1" dirty="0" smtClean="0">
                <a:latin typeface="Arial" pitchFamily="34" charset="0"/>
                <a:cs typeface="Arial" pitchFamily="34" charset="0"/>
              </a:rPr>
              <a:t>Ўзбекистон Республикасининг 2025–2027 йилларга мўлжалланган</a:t>
            </a:r>
            <a:br>
              <a:rPr lang="uz-Cyrl-UZ" b="1" dirty="0" smtClean="0">
                <a:latin typeface="Arial" pitchFamily="34" charset="0"/>
                <a:cs typeface="Arial" pitchFamily="34" charset="0"/>
              </a:rPr>
            </a:br>
            <a:r>
              <a:rPr lang="uz-Cyrl-UZ" b="1" dirty="0" smtClean="0">
                <a:latin typeface="Arial" pitchFamily="34" charset="0"/>
                <a:cs typeface="Arial" pitchFamily="34" charset="0"/>
              </a:rPr>
              <a:t>Инвестиция дастурини амалга ошириш</a:t>
            </a:r>
            <a:r>
              <a:rPr lang="uz-Cyrl-UZ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лойиҳалари бўйича инвестицияларни ўзлаштириш</a:t>
            </a:r>
            <a:endParaRPr lang="uz-Cyrl-UZ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Стрелка вправо 26"/>
          <p:cNvSpPr/>
          <p:nvPr/>
        </p:nvSpPr>
        <p:spPr>
          <a:xfrm>
            <a:off x="292975" y="694121"/>
            <a:ext cx="2355631" cy="1101728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/>
          <p:cNvSpPr/>
          <p:nvPr/>
        </p:nvSpPr>
        <p:spPr>
          <a:xfrm>
            <a:off x="3924053" y="3602365"/>
            <a:ext cx="7924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uz-Cyrl-UZ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Ўзбекистон Республикаси Вазирлар Махкамасининг 2025 йил </a:t>
            </a:r>
            <a:br>
              <a:rPr lang="uz-Cyrl-UZ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uz-Cyrl-UZ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31 январдаги 53 - сон “Ўзбекистон Республикасининг </a:t>
            </a:r>
            <a:br>
              <a:rPr lang="uz-Cyrl-UZ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uz-Cyrl-UZ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2025 йилга мўлжалланган инвестиция дастурини амалга ошириш чора-тадбирлари тўғрисида”ги қарорига мувофиқ амалга оширилади.</a:t>
            </a:r>
            <a:endParaRPr lang="ru-RU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0631325">
            <a:off x="825806" y="2626089"/>
            <a:ext cx="1578535" cy="162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Прямоугольник 11"/>
          <p:cNvSpPr/>
          <p:nvPr/>
        </p:nvSpPr>
        <p:spPr>
          <a:xfrm>
            <a:off x="3912973" y="1943265"/>
            <a:ext cx="792537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uz-Cyrl-UZ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Ўзбекистон Республикаси Президентининг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uz-Cyrl-UZ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2024 йил </a:t>
            </a:r>
            <a:br>
              <a:rPr lang="uz-Cyrl-UZ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uz-Cyrl-UZ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24 декабрдаги ПҚ-454 - сон “2025–2027 йилларда Ўзбекистон Республикасининг ижтимоий ва ишлаб чиқариш инфратузилмасини ривожлантириш чора-тадбирлари тўғрисида” ги қарорига мувофиқ амалга оширилади.</a:t>
            </a:r>
            <a:endParaRPr lang="ru-RU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Минус 12"/>
          <p:cNvSpPr/>
          <p:nvPr/>
        </p:nvSpPr>
        <p:spPr>
          <a:xfrm>
            <a:off x="2707122" y="2215978"/>
            <a:ext cx="1145627" cy="766119"/>
          </a:xfrm>
          <a:prstGeom prst="mathMinu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Минус 13"/>
          <p:cNvSpPr/>
          <p:nvPr/>
        </p:nvSpPr>
        <p:spPr>
          <a:xfrm>
            <a:off x="2732543" y="3946353"/>
            <a:ext cx="1145627" cy="699787"/>
          </a:xfrm>
          <a:prstGeom prst="mathMinu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550764" y="5306977"/>
            <a:ext cx="1118203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ea typeface="Cambria Math" panose="02040503050406030204" pitchFamily="18" charset="0"/>
                <a:cs typeface="Arial" pitchFamily="34" charset="0"/>
              </a:rPr>
              <a:t>Давлат статистика ҳисобот турлари бўйича маълумотларнинг шаклланиши</a:t>
            </a:r>
            <a:endParaRPr lang="uz-Cyrl-UZ" b="1" dirty="0">
              <a:solidFill>
                <a:schemeClr val="bg1"/>
              </a:solidFill>
              <a:latin typeface="Arial" pitchFamily="34" charset="0"/>
              <a:ea typeface="Cambria Math" panose="02040503050406030204" pitchFamily="18" charset="0"/>
              <a:cs typeface="Arial" pitchFamily="34" charset="0"/>
            </a:endParaRPr>
          </a:p>
        </p:txBody>
      </p:sp>
      <p:sp>
        <p:nvSpPr>
          <p:cNvPr id="16" name="AutoShape 8"/>
          <p:cNvSpPr>
            <a:spLocks noChangeArrowheads="1"/>
          </p:cNvSpPr>
          <p:nvPr/>
        </p:nvSpPr>
        <p:spPr bwMode="gray">
          <a:xfrm>
            <a:off x="4721401" y="6014071"/>
            <a:ext cx="3351473" cy="428754"/>
          </a:xfrm>
          <a:prstGeom prst="roundRect">
            <a:avLst>
              <a:gd name="adj" fmla="val 50000"/>
            </a:avLst>
          </a:prstGeom>
          <a:ln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lvl="0" eaLnBrk="0" fontAlgn="base" hangingPunct="0">
              <a:spcBef>
                <a:spcPts val="600"/>
              </a:spcBef>
            </a:pP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           </a:t>
            </a:r>
            <a:r>
              <a:rPr lang="uz-Cyrl-UZ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Invest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  (</a:t>
            </a:r>
            <a:r>
              <a:rPr lang="en-US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asosiy</a:t>
            </a:r>
            <a:r>
              <a:rPr lang="ru-RU" sz="1500" b="1" dirty="0" smtClean="0">
                <a:solidFill>
                  <a:srgbClr val="28478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1269-3FE5-4992-94B6-809A619A98FB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14" name="Рисунок 13" descr="C:\Users\User\Desktop\glonass-schema-gru112z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1690998"/>
            <a:ext cx="10753195" cy="4578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Объект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013" y="1492295"/>
            <a:ext cx="2478531" cy="1975079"/>
          </a:xfrm>
        </p:spPr>
      </p:pic>
      <p:grpSp>
        <p:nvGrpSpPr>
          <p:cNvPr id="2" name="Группа 5"/>
          <p:cNvGrpSpPr/>
          <p:nvPr/>
        </p:nvGrpSpPr>
        <p:grpSpPr>
          <a:xfrm>
            <a:off x="911424" y="1585733"/>
            <a:ext cx="10288129" cy="4556431"/>
            <a:chOff x="0" y="-441583"/>
            <a:chExt cx="6552988" cy="4234857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2066182" y="1839068"/>
              <a:ext cx="1091124" cy="2843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uz-Cyrl-UZ" sz="1400" b="1" dirty="0" smtClean="0">
                  <a:solidFill>
                    <a:srgbClr val="2E75B6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3</a:t>
              </a:r>
              <a:r>
                <a:rPr lang="en-US" sz="1400" b="1" dirty="0" smtClean="0">
                  <a:solidFill>
                    <a:srgbClr val="2E75B6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G </a:t>
              </a:r>
              <a:r>
                <a:rPr lang="ru-RU" sz="1400" b="1" dirty="0" smtClean="0">
                  <a:solidFill>
                    <a:srgbClr val="2E75B6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ва 4</a:t>
              </a:r>
              <a:r>
                <a:rPr lang="en-US" sz="1400" b="1" dirty="0" smtClean="0">
                  <a:solidFill>
                    <a:srgbClr val="2E75B6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G-</a:t>
              </a:r>
              <a:r>
                <a:rPr lang="uz-Cyrl-UZ" sz="1400" b="1" dirty="0">
                  <a:solidFill>
                    <a:srgbClr val="2E75B6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канали</a:t>
              </a:r>
              <a:endParaRPr lang="ru-RU" b="1" dirty="0"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endParaRPr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3179990" y="1444108"/>
              <a:ext cx="903334" cy="1653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400" b="1" dirty="0">
                  <a:solidFill>
                    <a:srgbClr val="2E75B6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Мобил ало</a:t>
              </a:r>
              <a:r>
                <a:rPr lang="uz-Cyrl-UZ" sz="1400" b="1" dirty="0">
                  <a:solidFill>
                    <a:srgbClr val="2E75B6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қа</a:t>
              </a:r>
              <a:endParaRPr lang="ru-RU" b="1" dirty="0"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5036351" y="1602132"/>
              <a:ext cx="1331002" cy="2634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uz-Cyrl-UZ" sz="1400" b="1" dirty="0">
                  <a:solidFill>
                    <a:srgbClr val="2E75B6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Маълумотларни қайта ишловчи серверлар</a:t>
              </a:r>
              <a:endParaRPr lang="ru-RU" b="1" dirty="0"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endParaRP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0" y="2976664"/>
              <a:ext cx="2250494" cy="816610"/>
            </a:xfrm>
            <a:prstGeom prst="rect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uz-Cyrl-UZ" sz="1050" b="1" dirty="0">
                  <a:solidFill>
                    <a:srgbClr val="FFFFFF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- </a:t>
              </a:r>
              <a:r>
                <a:rPr lang="uz-Cyrl-UZ" sz="1200" b="1" dirty="0" smtClean="0">
                  <a:solidFill>
                    <a:srgbClr val="FFFFFF"/>
                  </a:solidFill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Турар жой объектлари</a:t>
              </a:r>
              <a:r>
                <a:rPr lang="uz-Cyrl-UZ" sz="1200" b="1" dirty="0" smtClean="0">
                  <a:solidFill>
                    <a:srgbClr val="FFFFFF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 ҳақида ахборот бериш</a:t>
              </a:r>
              <a:endParaRPr lang="ru-RU" b="1" dirty="0"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endParaRP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uz-Cyrl-UZ" sz="1200" b="1" dirty="0">
                  <a:solidFill>
                    <a:srgbClr val="FFFFFF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- </a:t>
              </a:r>
              <a:r>
                <a:rPr lang="uz-Cyrl-UZ" sz="1200" b="1" dirty="0" smtClean="0">
                  <a:solidFill>
                    <a:srgbClr val="FFFFFF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Геолокацияни аниқлаш</a:t>
              </a:r>
              <a:endParaRPr lang="ru-RU" b="1" dirty="0"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endParaRPr>
            </a:p>
            <a:p>
              <a:pPr>
                <a:lnSpc>
                  <a:spcPct val="107000"/>
                </a:lnSpc>
                <a:spcAft>
                  <a:spcPts val="0"/>
                </a:spcAft>
              </a:pPr>
              <a:r>
                <a:rPr lang="uz-Cyrl-UZ" sz="1200" b="1" dirty="0">
                  <a:solidFill>
                    <a:srgbClr val="FFFFFF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-</a:t>
              </a:r>
              <a:r>
                <a:rPr lang="ru-RU" sz="1200" b="1" dirty="0">
                  <a:solidFill>
                    <a:srgbClr val="FFFFFF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 </a:t>
              </a:r>
              <a:r>
                <a:rPr lang="ru-RU" sz="1200" b="1" dirty="0" smtClean="0">
                  <a:solidFill>
                    <a:srgbClr val="FFFFFF"/>
                  </a:solidFill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Олдинги давр маълумотларини ўрганиш</a:t>
              </a:r>
              <a:endParaRPr lang="ru-RU" b="1" dirty="0"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endParaRP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3968276" y="2958696"/>
              <a:ext cx="2584712" cy="816610"/>
            </a:xfrm>
            <a:prstGeom prst="rect">
              <a:avLst/>
            </a:prstGeom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10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07000"/>
                </a:lnSpc>
                <a:spcAft>
                  <a:spcPts val="0"/>
                </a:spcAft>
              </a:pPr>
              <a:r>
                <a:rPr lang="uz-Cyrl-UZ" sz="1200" b="1" dirty="0" smtClean="0">
                  <a:solidFill>
                    <a:srgbClr val="FFFFFF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Танланма кузатув мониторингини юритиш-</a:t>
              </a:r>
              <a:endParaRPr lang="ru-RU" b="1" dirty="0"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endParaRPr>
            </a:p>
            <a:p>
              <a:pPr algn="r">
                <a:lnSpc>
                  <a:spcPct val="107000"/>
                </a:lnSpc>
                <a:spcAft>
                  <a:spcPts val="0"/>
                </a:spcAft>
              </a:pPr>
              <a:r>
                <a:rPr lang="uz-Cyrl-UZ" sz="1200" b="1" dirty="0" smtClean="0">
                  <a:solidFill>
                    <a:srgbClr val="FFFFFF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Турар жой обектлар базаси </a:t>
              </a:r>
              <a:r>
                <a:rPr lang="uz-Cyrl-UZ" sz="1200" b="1" dirty="0">
                  <a:solidFill>
                    <a:srgbClr val="FFFFFF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-</a:t>
              </a:r>
              <a:endParaRPr lang="ru-RU" b="1" dirty="0"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endParaRPr>
            </a:p>
            <a:p>
              <a:pPr algn="r">
                <a:lnSpc>
                  <a:spcPct val="107000"/>
                </a:lnSpc>
                <a:spcAft>
                  <a:spcPts val="0"/>
                </a:spcAft>
              </a:pPr>
              <a:r>
                <a:rPr lang="uz-Cyrl-UZ" sz="1200" b="1" dirty="0" smtClean="0">
                  <a:solidFill>
                    <a:srgbClr val="FFFFFF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Кузатувчилар иш фаолиятини ташкиллаштириш-</a:t>
              </a:r>
              <a:endParaRPr lang="ru-RU" b="1" dirty="0"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endParaRPr>
            </a:p>
          </p:txBody>
        </p:sp>
        <p:sp>
          <p:nvSpPr>
            <p:cNvPr id="18" name="Прямоугольник 17"/>
            <p:cNvSpPr/>
            <p:nvPr/>
          </p:nvSpPr>
          <p:spPr>
            <a:xfrm>
              <a:off x="4838225" y="-441583"/>
              <a:ext cx="1548216" cy="24080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600" b="1" dirty="0" smtClean="0">
                  <a:solidFill>
                    <a:srgbClr val="2E75B6"/>
                  </a:solidFill>
                  <a:effectLst/>
                  <a:latin typeface="Arial" pitchFamily="34" charset="0"/>
                  <a:ea typeface="Calibri" panose="020F0502020204030204" pitchFamily="34" charset="0"/>
                  <a:cs typeface="Arial" pitchFamily="34" charset="0"/>
                </a:rPr>
                <a:t>Марказий аппарат</a:t>
              </a:r>
              <a:endParaRPr lang="ru-RU" sz="2000" b="1" dirty="0"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endParaRPr>
            </a:p>
          </p:txBody>
        </p:sp>
      </p:grpSp>
      <p:sp>
        <p:nvSpPr>
          <p:cNvPr id="17" name="Двойная стрелка вверх/вниз 16"/>
          <p:cNvSpPr/>
          <p:nvPr/>
        </p:nvSpPr>
        <p:spPr>
          <a:xfrm>
            <a:off x="9648395" y="3140968"/>
            <a:ext cx="192021" cy="720080"/>
          </a:xfrm>
          <a:prstGeom prst="upDownArrow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Выгнутая влево стрелка 18"/>
          <p:cNvSpPr/>
          <p:nvPr/>
        </p:nvSpPr>
        <p:spPr>
          <a:xfrm>
            <a:off x="335360" y="3933056"/>
            <a:ext cx="576064" cy="1728192"/>
          </a:xfrm>
          <a:prstGeom prst="curved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0" name="Выгнутая вправо стрелка 19"/>
          <p:cNvSpPr/>
          <p:nvPr/>
        </p:nvSpPr>
        <p:spPr>
          <a:xfrm>
            <a:off x="11204294" y="4074289"/>
            <a:ext cx="529773" cy="1559915"/>
          </a:xfrm>
          <a:prstGeom prst="curvedLef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25113" y="3448660"/>
            <a:ext cx="3024865" cy="1598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895208" y="1742181"/>
            <a:ext cx="5104781" cy="1598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Объект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491" y="1460559"/>
            <a:ext cx="2478531" cy="1975079"/>
          </a:xfrm>
          <a:prstGeom prst="rect">
            <a:avLst/>
          </a:prstGeom>
        </p:spPr>
      </p:pic>
      <p:sp>
        <p:nvSpPr>
          <p:cNvPr id="24" name="Двойная стрелка вверх/вниз 23"/>
          <p:cNvSpPr/>
          <p:nvPr/>
        </p:nvSpPr>
        <p:spPr>
          <a:xfrm rot="16200000">
            <a:off x="7341838" y="1706911"/>
            <a:ext cx="190545" cy="1920213"/>
          </a:xfrm>
          <a:prstGeom prst="upDownArrow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6721145" y="2152359"/>
            <a:ext cx="1418225" cy="29573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 smtClean="0">
                <a:solidFill>
                  <a:srgbClr val="2E75B6"/>
                </a:solidFill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VPN </a:t>
            </a:r>
            <a:r>
              <a:rPr lang="uz-Cyrl-UZ" sz="1400" b="1" dirty="0" smtClean="0">
                <a:solidFill>
                  <a:srgbClr val="2E75B6"/>
                </a:solidFill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корпоратив алоқа канали</a:t>
            </a:r>
            <a:endParaRPr lang="ru-RU" b="1" dirty="0">
              <a:effectLst/>
              <a:latin typeface="Arial" pitchFamily="34" charset="0"/>
              <a:ea typeface="Calibri" panose="020F0502020204030204" pitchFamily="34" charset="0"/>
              <a:cs typeface="Arial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3738623" y="1400537"/>
            <a:ext cx="2696901" cy="3626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uz-Cyrl-UZ" sz="1600" b="1" dirty="0" smtClean="0">
                <a:solidFill>
                  <a:srgbClr val="2E75B6"/>
                </a:solidFill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Ҳудудий бошқармалар</a:t>
            </a:r>
            <a:endParaRPr lang="ru-RU" sz="2000" b="1" dirty="0">
              <a:effectLst/>
              <a:latin typeface="Arial" pitchFamily="34" charset="0"/>
              <a:ea typeface="Calibri" panose="020F0502020204030204" pitchFamily="34" charset="0"/>
              <a:cs typeface="Arial" pitchFamily="34" charset="0"/>
            </a:endParaRPr>
          </a:p>
        </p:txBody>
      </p:sp>
      <p:grpSp>
        <p:nvGrpSpPr>
          <p:cNvPr id="3" name="Группа 40"/>
          <p:cNvGrpSpPr/>
          <p:nvPr/>
        </p:nvGrpSpPr>
        <p:grpSpPr>
          <a:xfrm>
            <a:off x="1128718" y="2819699"/>
            <a:ext cx="2818329" cy="2375344"/>
            <a:chOff x="812918" y="2781002"/>
            <a:chExt cx="2113747" cy="2375344"/>
          </a:xfrm>
        </p:grpSpPr>
        <p:sp>
          <p:nvSpPr>
            <p:cNvPr id="40" name="Овал 39"/>
            <p:cNvSpPr/>
            <p:nvPr/>
          </p:nvSpPr>
          <p:spPr>
            <a:xfrm>
              <a:off x="1116218" y="3212976"/>
              <a:ext cx="1583574" cy="1584176"/>
            </a:xfrm>
            <a:prstGeom prst="ellipse">
              <a:avLst/>
            </a:prstGeom>
            <a:noFill/>
            <a:ln w="38100"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" name="Группа 29"/>
            <p:cNvGrpSpPr/>
            <p:nvPr/>
          </p:nvGrpSpPr>
          <p:grpSpPr>
            <a:xfrm>
              <a:off x="1561466" y="2781002"/>
              <a:ext cx="613064" cy="1116091"/>
              <a:chOff x="815422" y="1303563"/>
              <a:chExt cx="2748466" cy="5003618"/>
            </a:xfrm>
          </p:grpSpPr>
          <p:pic>
            <p:nvPicPr>
              <p:cNvPr id="28" name="Рисунок 2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422" y="1303563"/>
                <a:ext cx="2748466" cy="5003618"/>
              </a:xfrm>
              <a:prstGeom prst="rect">
                <a:avLst/>
              </a:prstGeom>
            </p:spPr>
          </p:pic>
          <p:pic>
            <p:nvPicPr>
              <p:cNvPr id="16" name="Рисунок 1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3006" y="1783907"/>
                <a:ext cx="2524319" cy="4237381"/>
              </a:xfrm>
              <a:prstGeom prst="rect">
                <a:avLst/>
              </a:prstGeom>
            </p:spPr>
          </p:pic>
        </p:grpSp>
        <p:grpSp>
          <p:nvGrpSpPr>
            <p:cNvPr id="7" name="Группа 36"/>
            <p:cNvGrpSpPr/>
            <p:nvPr/>
          </p:nvGrpSpPr>
          <p:grpSpPr>
            <a:xfrm>
              <a:off x="2313601" y="3422256"/>
              <a:ext cx="613064" cy="1116091"/>
              <a:chOff x="815422" y="1303563"/>
              <a:chExt cx="2748466" cy="5003618"/>
            </a:xfrm>
          </p:grpSpPr>
          <p:pic>
            <p:nvPicPr>
              <p:cNvPr id="38" name="Рисунок 3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422" y="1303563"/>
                <a:ext cx="2748466" cy="5003618"/>
              </a:xfrm>
              <a:prstGeom prst="rect">
                <a:avLst/>
              </a:prstGeom>
            </p:spPr>
          </p:pic>
          <p:pic>
            <p:nvPicPr>
              <p:cNvPr id="39" name="Рисунок 3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3006" y="1783907"/>
                <a:ext cx="2524319" cy="4237381"/>
              </a:xfrm>
              <a:prstGeom prst="rect">
                <a:avLst/>
              </a:prstGeom>
            </p:spPr>
          </p:pic>
        </p:grpSp>
        <p:grpSp>
          <p:nvGrpSpPr>
            <p:cNvPr id="8" name="Группа 30"/>
            <p:cNvGrpSpPr/>
            <p:nvPr/>
          </p:nvGrpSpPr>
          <p:grpSpPr>
            <a:xfrm>
              <a:off x="812918" y="3436319"/>
              <a:ext cx="613064" cy="1116091"/>
              <a:chOff x="815422" y="1303563"/>
              <a:chExt cx="2748466" cy="5003618"/>
            </a:xfrm>
          </p:grpSpPr>
          <p:pic>
            <p:nvPicPr>
              <p:cNvPr id="32" name="Рисунок 3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422" y="1303563"/>
                <a:ext cx="2748466" cy="5003618"/>
              </a:xfrm>
              <a:prstGeom prst="rect">
                <a:avLst/>
              </a:prstGeom>
            </p:spPr>
          </p:pic>
          <p:pic>
            <p:nvPicPr>
              <p:cNvPr id="33" name="Рисунок 3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3006" y="1783907"/>
                <a:ext cx="2524319" cy="4237381"/>
              </a:xfrm>
              <a:prstGeom prst="rect">
                <a:avLst/>
              </a:prstGeom>
            </p:spPr>
          </p:pic>
        </p:grpSp>
        <p:grpSp>
          <p:nvGrpSpPr>
            <p:cNvPr id="21" name="Группа 33"/>
            <p:cNvGrpSpPr/>
            <p:nvPr/>
          </p:nvGrpSpPr>
          <p:grpSpPr>
            <a:xfrm>
              <a:off x="1561466" y="4040255"/>
              <a:ext cx="613064" cy="1116091"/>
              <a:chOff x="815422" y="1303563"/>
              <a:chExt cx="2748466" cy="5003618"/>
            </a:xfrm>
          </p:grpSpPr>
          <p:pic>
            <p:nvPicPr>
              <p:cNvPr id="35" name="Рисунок 34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422" y="1303563"/>
                <a:ext cx="2748466" cy="5003618"/>
              </a:xfrm>
              <a:prstGeom prst="rect">
                <a:avLst/>
              </a:prstGeom>
            </p:spPr>
          </p:pic>
          <p:pic>
            <p:nvPicPr>
              <p:cNvPr id="36" name="Рисунок 3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3006" y="1783907"/>
                <a:ext cx="2524319" cy="4237381"/>
              </a:xfrm>
              <a:prstGeom prst="rect">
                <a:avLst/>
              </a:prstGeom>
            </p:spPr>
          </p:pic>
        </p:grpSp>
      </p:grpSp>
      <p:sp>
        <p:nvSpPr>
          <p:cNvPr id="42" name="Прямоугольник 41"/>
          <p:cNvSpPr/>
          <p:nvPr/>
        </p:nvSpPr>
        <p:spPr>
          <a:xfrm>
            <a:off x="245052" y="3129313"/>
            <a:ext cx="1971137" cy="206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uz-Cyrl-UZ" sz="1600" b="1" dirty="0" smtClean="0">
                <a:solidFill>
                  <a:srgbClr val="2E75B6"/>
                </a:solidFill>
                <a:effectLst/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Кузатувчилар</a:t>
            </a:r>
            <a:endParaRPr lang="ru-RU" sz="2000" b="1" dirty="0">
              <a:effectLst/>
              <a:latin typeface="Arial" pitchFamily="34" charset="0"/>
              <a:ea typeface="Calibri" panose="020F0502020204030204" pitchFamily="34" charset="0"/>
              <a:cs typeface="Arial" pitchFamily="34" charset="0"/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1270000" y="136546"/>
            <a:ext cx="9826625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uz-Cyrl-UZ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ИНИ кузатувини амалга ошириш схемаси</a:t>
            </a:r>
            <a:r>
              <a:rPr lang="uz-Cyrl-UZ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ru-RU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>
            <a:off x="11018067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3" descr="\\807-2\1. Social\UZSTAT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0485" y="38100"/>
            <a:ext cx="622015" cy="622015"/>
          </a:xfrm>
          <a:prstGeom prst="rect">
            <a:avLst/>
          </a:prstGeom>
          <a:noFill/>
        </p:spPr>
      </p:pic>
      <p:cxnSp>
        <p:nvCxnSpPr>
          <p:cNvPr id="46" name="Прямая соединительная линия 45"/>
          <p:cNvCxnSpPr/>
          <p:nvPr/>
        </p:nvCxnSpPr>
        <p:spPr>
          <a:xfrm>
            <a:off x="1312092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Прямоугольник 46"/>
          <p:cNvSpPr/>
          <p:nvPr/>
        </p:nvSpPr>
        <p:spPr>
          <a:xfrm>
            <a:off x="11267508" y="217185"/>
            <a:ext cx="752475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Прямоугольник 47"/>
          <p:cNvSpPr/>
          <p:nvPr/>
        </p:nvSpPr>
        <p:spPr>
          <a:xfrm>
            <a:off x="0" y="-33251"/>
            <a:ext cx="12192000" cy="6858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dirty="0" smtClean="0">
                <a:latin typeface="Arial" panose="020B0604020202020204" pitchFamily="34" charset="0"/>
                <a:cs typeface="Arial" panose="020B0604020202020204" pitchFamily="34" charset="0"/>
              </a:rPr>
              <a:t>Инвестициялар ва қурилиш бошқармасининг танланма кузатувларни электрон кўринишда </a:t>
            </a:r>
            <a:br>
              <a:rPr lang="uz-Cyrl-UZ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uz-Cyrl-UZ" dirty="0" smtClean="0">
                <a:latin typeface="Arial" panose="020B0604020202020204" pitchFamily="34" charset="0"/>
                <a:cs typeface="Arial" panose="020B0604020202020204" pitchFamily="34" charset="0"/>
              </a:rPr>
              <a:t>ўтказиш схемаси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9" name="Picture 3" descr="\\807-2\1. Social\UZSTAT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3256" y="38100"/>
            <a:ext cx="622015" cy="622015"/>
          </a:xfrm>
          <a:prstGeom prst="rect">
            <a:avLst/>
          </a:prstGeom>
          <a:noFill/>
        </p:spPr>
      </p:pic>
      <p:cxnSp>
        <p:nvCxnSpPr>
          <p:cNvPr id="50" name="Прямая соединительная линия 49"/>
          <p:cNvCxnSpPr/>
          <p:nvPr/>
        </p:nvCxnSpPr>
        <p:spPr>
          <a:xfrm>
            <a:off x="1079298" y="38100"/>
            <a:ext cx="5321" cy="566818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/>
          <p:nvPr/>
        </p:nvCxnSpPr>
        <p:spPr>
          <a:xfrm>
            <a:off x="11198004" y="19050"/>
            <a:ext cx="0" cy="585868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Прямоугольник 51"/>
          <p:cNvSpPr/>
          <p:nvPr/>
        </p:nvSpPr>
        <p:spPr>
          <a:xfrm>
            <a:off x="11368888" y="130441"/>
            <a:ext cx="752475" cy="276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950525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"/>
            <a:ext cx="12192000" cy="6065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20230" y="127842"/>
            <a:ext cx="103240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Инвестициялар ва қурилиш статистика</a:t>
            </a:r>
            <a:r>
              <a:rPr lang="uz-Cyrl-UZ" sz="1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си бўйича 2025 йилда белгиланган вазифалар</a:t>
            </a:r>
            <a:endParaRPr lang="ru-RU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3" name="Picture 3" descr="\\807-2\1. Social\UZSTA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6871" y="38101"/>
            <a:ext cx="404832" cy="477084"/>
          </a:xfrm>
          <a:prstGeom prst="rect">
            <a:avLst/>
          </a:prstGeom>
          <a:noFill/>
        </p:spPr>
      </p:pic>
      <p:cxnSp>
        <p:nvCxnSpPr>
          <p:cNvPr id="34" name="Прямая соединительная линия 33"/>
          <p:cNvCxnSpPr/>
          <p:nvPr/>
        </p:nvCxnSpPr>
        <p:spPr>
          <a:xfrm>
            <a:off x="1312092" y="0"/>
            <a:ext cx="9054" cy="68806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9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5" name="Rectangle 108"/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40" name="Text Box 18"/>
          <p:cNvSpPr txBox="1">
            <a:spLocks noChangeArrowheads="1"/>
          </p:cNvSpPr>
          <p:nvPr/>
        </p:nvSpPr>
        <p:spPr bwMode="black">
          <a:xfrm>
            <a:off x="243181" y="3977283"/>
            <a:ext cx="327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292929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uz-Cyrl-UZ" altLang="zh-CN" sz="2000" b="1" dirty="0" smtClean="0">
                <a:solidFill>
                  <a:schemeClr val="bg1"/>
                </a:solidFill>
                <a:latin typeface="Arial" pitchFamily="34" charset="0"/>
                <a:ea typeface="宋体" charset="-122"/>
                <a:cs typeface="Arial" pitchFamily="34" charset="0"/>
              </a:rPr>
              <a:t>2</a:t>
            </a:r>
            <a:endParaRPr lang="en-US" altLang="zh-CN" sz="2000" b="1" dirty="0">
              <a:solidFill>
                <a:schemeClr val="bg1"/>
              </a:solidFill>
              <a:latin typeface="Arial" pitchFamily="34" charset="0"/>
              <a:ea typeface="宋体" charset="-122"/>
              <a:cs typeface="Arial" pitchFamily="34" charset="0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938D8426-153F-5B1C-B29E-AD2C502F834E}"/>
              </a:ext>
            </a:extLst>
          </p:cNvPr>
          <p:cNvSpPr/>
          <p:nvPr/>
        </p:nvSpPr>
        <p:spPr>
          <a:xfrm>
            <a:off x="211232" y="5892400"/>
            <a:ext cx="11784800" cy="84922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5">
              <a:buClr>
                <a:srgbClr val="000000"/>
              </a:buClr>
            </a:pPr>
            <a:endParaRPr lang="x-none" sz="1050" ker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5288DB98-2CF4-1039-9EFE-63079A34FCA2}"/>
              </a:ext>
            </a:extLst>
          </p:cNvPr>
          <p:cNvSpPr/>
          <p:nvPr/>
        </p:nvSpPr>
        <p:spPr>
          <a:xfrm>
            <a:off x="1471135" y="5967572"/>
            <a:ext cx="992561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zh-CN" sz="1400" dirty="0" smtClean="0">
                <a:solidFill>
                  <a:schemeClr val="bg1"/>
                </a:solidFill>
                <a:latin typeface="Cambria" pitchFamily="18" charset="0"/>
                <a:cs typeface="Times New Roman" pitchFamily="18" charset="0"/>
              </a:rPr>
              <a:t>Статистика</a:t>
            </a:r>
            <a:r>
              <a:rPr lang="uz-Cyrl-UZ" altLang="zh-CN" sz="1400" dirty="0" smtClean="0">
                <a:solidFill>
                  <a:schemeClr val="bg1"/>
                </a:solidFill>
                <a:latin typeface="Cambria" pitchFamily="18" charset="0"/>
                <a:cs typeface="Times New Roman" pitchFamily="18" charset="0"/>
              </a:rPr>
              <a:t> интеграллашган </a:t>
            </a:r>
            <a:r>
              <a:rPr lang="uz-Cyrl-UZ" altLang="zh-CN" sz="1400" dirty="0">
                <a:solidFill>
                  <a:schemeClr val="bg1"/>
                </a:solidFill>
                <a:latin typeface="Cambria" pitchFamily="18" charset="0"/>
                <a:cs typeface="Times New Roman" pitchFamily="18" charset="0"/>
              </a:rPr>
              <a:t>ахборот тизимида</a:t>
            </a:r>
            <a:r>
              <a:rPr lang="uz-Cyrl-UZ" sz="1400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эълон қилинадиган </a:t>
            </a:r>
            <a:r>
              <a:rPr lang="uz-Cyrl-UZ" altLang="zh-CN" sz="1400" dirty="0" smtClean="0">
                <a:solidFill>
                  <a:schemeClr val="bg1"/>
                </a:solidFill>
                <a:latin typeface="Cambria" pitchFamily="18" charset="0"/>
                <a:cs typeface="Times New Roman" pitchFamily="18" charset="0"/>
              </a:rPr>
              <a:t>мавжуд </a:t>
            </a:r>
            <a:r>
              <a:rPr lang="uz-Cyrl-UZ" altLang="zh-CN" b="1" dirty="0" smtClean="0">
                <a:solidFill>
                  <a:schemeClr val="bg1"/>
                </a:solidFill>
                <a:latin typeface="Cambria" pitchFamily="18" charset="0"/>
                <a:cs typeface="Times New Roman" pitchFamily="18" charset="0"/>
              </a:rPr>
              <a:t>205 </a:t>
            </a:r>
            <a:r>
              <a:rPr lang="uz-Cyrl-UZ" altLang="zh-CN" b="1" dirty="0">
                <a:solidFill>
                  <a:schemeClr val="bg1"/>
                </a:solidFill>
                <a:latin typeface="Cambria" pitchFamily="18" charset="0"/>
                <a:cs typeface="Times New Roman" pitchFamily="18" charset="0"/>
              </a:rPr>
              <a:t>та </a:t>
            </a:r>
            <a:r>
              <a:rPr lang="uz-Cyrl-UZ" altLang="zh-CN" sz="1400" dirty="0" smtClean="0">
                <a:solidFill>
                  <a:schemeClr val="bg1"/>
                </a:solidFill>
                <a:latin typeface="Cambria" pitchFamily="18" charset="0"/>
                <a:cs typeface="Times New Roman" pitchFamily="18" charset="0"/>
              </a:rPr>
              <a:t>кўрстакичларни ўз муддатларида</a:t>
            </a:r>
            <a:r>
              <a:rPr lang="uz-Cyrl-UZ" altLang="zh-CN" b="1" dirty="0" smtClean="0">
                <a:solidFill>
                  <a:schemeClr val="bg1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uz-Cyrl-UZ" altLang="zh-CN" sz="1400" dirty="0" smtClean="0">
                <a:solidFill>
                  <a:schemeClr val="bg1"/>
                </a:solidFill>
                <a:latin typeface="Cambria" pitchFamily="18" charset="0"/>
                <a:cs typeface="Times New Roman" pitchFamily="18" charset="0"/>
              </a:rPr>
              <a:t>эълон қилиб борилади. </a:t>
            </a:r>
            <a:endParaRPr lang="uz-Cyrl-UZ" sz="1400" dirty="0">
              <a:solidFill>
                <a:schemeClr val="bg1"/>
              </a:solidFill>
              <a:latin typeface="Cambria" pitchFamily="18" charset="0"/>
              <a:cs typeface="Open Sans" panose="020B0606030504020204" pitchFamily="34" charset="0"/>
            </a:endParaRPr>
          </a:p>
          <a:p>
            <a:pPr algn="ctr"/>
            <a:endParaRPr lang="ru-RU" sz="1000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cxnSp>
        <p:nvCxnSpPr>
          <p:cNvPr id="82" name="Straight Connector 318">
            <a:extLst>
              <a:ext uri="{FF2B5EF4-FFF2-40B4-BE49-F238E27FC236}">
                <a16:creationId xmlns:a16="http://schemas.microsoft.com/office/drawing/2014/main" id="{96F6807F-F6ED-68EF-A450-8717C846405F}"/>
              </a:ext>
            </a:extLst>
          </p:cNvPr>
          <p:cNvCxnSpPr>
            <a:cxnSpLocks/>
          </p:cNvCxnSpPr>
          <p:nvPr/>
        </p:nvCxnSpPr>
        <p:spPr>
          <a:xfrm flipH="1">
            <a:off x="211232" y="5811478"/>
            <a:ext cx="11784800" cy="55377"/>
          </a:xfrm>
          <a:prstGeom prst="line">
            <a:avLst/>
          </a:prstGeom>
          <a:noFill/>
          <a:ln w="22225" cap="flat" cmpd="sng" algn="ctr">
            <a:solidFill>
              <a:schemeClr val="accent1">
                <a:lumMod val="50000"/>
              </a:schemeClr>
            </a:solidFill>
            <a:prstDash val="dash"/>
          </a:ln>
          <a:effectLst/>
        </p:spPr>
      </p:cxnSp>
      <p:sp>
        <p:nvSpPr>
          <p:cNvPr id="89" name="Блок-схема: знак завершения 88"/>
          <p:cNvSpPr/>
          <p:nvPr/>
        </p:nvSpPr>
        <p:spPr>
          <a:xfrm>
            <a:off x="4399417" y="2270288"/>
            <a:ext cx="3467316" cy="717964"/>
          </a:xfrm>
          <a:prstGeom prst="flowChartTerminato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Блок-схема: знак завершения 89"/>
          <p:cNvSpPr/>
          <p:nvPr/>
        </p:nvSpPr>
        <p:spPr>
          <a:xfrm>
            <a:off x="5042608" y="1935275"/>
            <a:ext cx="2447439" cy="44677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0248" tIns="60124" rIns="120248" bIns="601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367"/>
          </a:p>
        </p:txBody>
      </p:sp>
      <p:pic>
        <p:nvPicPr>
          <p:cNvPr id="93" name="Рисунок 9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4" t="33010" r="57744" b="30631"/>
          <a:stretch/>
        </p:blipFill>
        <p:spPr>
          <a:xfrm>
            <a:off x="4413455" y="2251654"/>
            <a:ext cx="662935" cy="770725"/>
          </a:xfrm>
          <a:prstGeom prst="rect">
            <a:avLst/>
          </a:prstGeom>
        </p:spPr>
      </p:pic>
      <p:sp>
        <p:nvSpPr>
          <p:cNvPr id="98" name="Прямоугольник 97"/>
          <p:cNvSpPr/>
          <p:nvPr/>
        </p:nvSpPr>
        <p:spPr>
          <a:xfrm>
            <a:off x="3355376" y="4215795"/>
            <a:ext cx="4555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z-Cyrl-UZ" altLang="zh-CN" sz="2000" b="1" dirty="0">
                <a:solidFill>
                  <a:schemeClr val="bg1"/>
                </a:solidFill>
                <a:latin typeface="Cambria" pitchFamily="18" charset="0"/>
              </a:rPr>
              <a:t>8</a:t>
            </a:r>
            <a:r>
              <a:rPr lang="uz-Cyrl-UZ" altLang="zh-CN" sz="2000" b="1" dirty="0" smtClean="0">
                <a:solidFill>
                  <a:schemeClr val="bg1"/>
                </a:solidFill>
                <a:latin typeface="Cambria" pitchFamily="18" charset="0"/>
              </a:rPr>
              <a:t/>
            </a:r>
            <a:br>
              <a:rPr lang="uz-Cyrl-UZ" altLang="zh-CN" sz="2000" b="1" dirty="0" smtClean="0">
                <a:solidFill>
                  <a:schemeClr val="bg1"/>
                </a:solidFill>
                <a:latin typeface="Cambria" pitchFamily="18" charset="0"/>
              </a:rPr>
            </a:br>
            <a:r>
              <a:rPr lang="uz-Cyrl-UZ" altLang="zh-CN" sz="2000" b="1" dirty="0" smtClean="0">
                <a:solidFill>
                  <a:schemeClr val="bg1"/>
                </a:solidFill>
                <a:latin typeface="Cambria" pitchFamily="18" charset="0"/>
              </a:rPr>
              <a:t>та</a:t>
            </a:r>
            <a:endParaRPr lang="ru-RU" sz="2400" dirty="0">
              <a:solidFill>
                <a:schemeClr val="bg1"/>
              </a:solidFill>
            </a:endParaRPr>
          </a:p>
        </p:txBody>
      </p:sp>
      <p:grpSp>
        <p:nvGrpSpPr>
          <p:cNvPr id="103" name="Группа 102"/>
          <p:cNvGrpSpPr/>
          <p:nvPr/>
        </p:nvGrpSpPr>
        <p:grpSpPr>
          <a:xfrm>
            <a:off x="8836937" y="722459"/>
            <a:ext cx="3159095" cy="973990"/>
            <a:chOff x="890230" y="1586104"/>
            <a:chExt cx="3462029" cy="1082127"/>
          </a:xfrm>
          <a:solidFill>
            <a:schemeClr val="accent1">
              <a:lumMod val="75000"/>
            </a:schemeClr>
          </a:solidFill>
        </p:grpSpPr>
        <p:sp>
          <p:nvSpPr>
            <p:cNvPr id="104" name="Скругленный прямоугольник 103"/>
            <p:cNvSpPr/>
            <p:nvPr/>
          </p:nvSpPr>
          <p:spPr>
            <a:xfrm>
              <a:off x="890230" y="1672771"/>
              <a:ext cx="3462029" cy="901987"/>
            </a:xfrm>
            <a:prstGeom prst="roundRect">
              <a:avLst/>
            </a:prstGeom>
            <a:grp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8568" tIns="44284" rIns="88568" bIns="442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743" dirty="0"/>
            </a:p>
          </p:txBody>
        </p:sp>
        <p:sp>
          <p:nvSpPr>
            <p:cNvPr id="105" name="Скругленный прямоугольник 104"/>
            <p:cNvSpPr/>
            <p:nvPr/>
          </p:nvSpPr>
          <p:spPr>
            <a:xfrm>
              <a:off x="1109976" y="1586104"/>
              <a:ext cx="767363" cy="108212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6" name="Прямоугольник 105"/>
          <p:cNvSpPr/>
          <p:nvPr/>
        </p:nvSpPr>
        <p:spPr>
          <a:xfrm>
            <a:off x="9103800" y="827871"/>
            <a:ext cx="4555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z-Cyrl-UZ" altLang="zh-CN" sz="2000" b="1" dirty="0" smtClean="0">
                <a:solidFill>
                  <a:schemeClr val="bg1"/>
                </a:solidFill>
                <a:latin typeface="Cambria" pitchFamily="18" charset="0"/>
              </a:rPr>
              <a:t> 2</a:t>
            </a:r>
            <a:br>
              <a:rPr lang="uz-Cyrl-UZ" altLang="zh-CN" sz="2000" b="1" dirty="0" smtClean="0">
                <a:solidFill>
                  <a:schemeClr val="bg1"/>
                </a:solidFill>
                <a:latin typeface="Cambria" pitchFamily="18" charset="0"/>
              </a:rPr>
            </a:br>
            <a:r>
              <a:rPr lang="uz-Cyrl-UZ" altLang="zh-CN" sz="2000" b="1" dirty="0" smtClean="0">
                <a:solidFill>
                  <a:schemeClr val="bg1"/>
                </a:solidFill>
                <a:latin typeface="Cambria" pitchFamily="18" charset="0"/>
              </a:rPr>
              <a:t>та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07" name="Прямоугольник 106"/>
          <p:cNvSpPr/>
          <p:nvPr/>
        </p:nvSpPr>
        <p:spPr>
          <a:xfrm>
            <a:off x="9907748" y="832760"/>
            <a:ext cx="22153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z-Cyrl-UZ" altLang="zh-CN" sz="1400" dirty="0" smtClean="0">
                <a:solidFill>
                  <a:schemeClr val="bg1"/>
                </a:solidFill>
                <a:latin typeface="Cambria" pitchFamily="18" charset="0"/>
              </a:rPr>
              <a:t>такомиллашган </a:t>
            </a:r>
            <a:r>
              <a:rPr lang="uz-Cyrl-UZ" altLang="zh-CN" sz="1400" b="1" dirty="0" smtClean="0">
                <a:solidFill>
                  <a:schemeClr val="bg1"/>
                </a:solidFill>
                <a:latin typeface="Cambria" pitchFamily="18" charset="0"/>
              </a:rPr>
              <a:t>танланма кузатувлар олиб борилади</a:t>
            </a:r>
            <a:endParaRPr lang="ru-RU" sz="1400" dirty="0">
              <a:solidFill>
                <a:schemeClr val="bg1"/>
              </a:solidFill>
            </a:endParaRPr>
          </a:p>
        </p:txBody>
      </p:sp>
      <p:grpSp>
        <p:nvGrpSpPr>
          <p:cNvPr id="108" name="Группа 107"/>
          <p:cNvGrpSpPr/>
          <p:nvPr/>
        </p:nvGrpSpPr>
        <p:grpSpPr>
          <a:xfrm>
            <a:off x="406848" y="723100"/>
            <a:ext cx="3500988" cy="981793"/>
            <a:chOff x="946540" y="1940213"/>
            <a:chExt cx="2719519" cy="1082127"/>
          </a:xfrm>
        </p:grpSpPr>
        <p:sp>
          <p:nvSpPr>
            <p:cNvPr id="109" name="Скругленный прямоугольник 108"/>
            <p:cNvSpPr/>
            <p:nvPr/>
          </p:nvSpPr>
          <p:spPr>
            <a:xfrm>
              <a:off x="946540" y="2069650"/>
              <a:ext cx="2719519" cy="90198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8568" tIns="44284" rIns="88568" bIns="442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743" dirty="0"/>
            </a:p>
          </p:txBody>
        </p:sp>
        <p:sp>
          <p:nvSpPr>
            <p:cNvPr id="110" name="Скругленный прямоугольник 109"/>
            <p:cNvSpPr/>
            <p:nvPr/>
          </p:nvSpPr>
          <p:spPr>
            <a:xfrm>
              <a:off x="1099152" y="1940213"/>
              <a:ext cx="767363" cy="108212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11" name="Прямоугольник 110"/>
          <p:cNvSpPr/>
          <p:nvPr/>
        </p:nvSpPr>
        <p:spPr>
          <a:xfrm>
            <a:off x="765882" y="826920"/>
            <a:ext cx="48923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z-Cyrl-UZ" altLang="zh-CN" sz="2000" b="1" dirty="0" smtClean="0">
                <a:solidFill>
                  <a:schemeClr val="bg1"/>
                </a:solidFill>
                <a:latin typeface="Cambria" pitchFamily="18" charset="0"/>
              </a:rPr>
              <a:t>26</a:t>
            </a:r>
            <a:br>
              <a:rPr lang="uz-Cyrl-UZ" altLang="zh-CN" sz="2000" b="1" dirty="0" smtClean="0">
                <a:solidFill>
                  <a:schemeClr val="bg1"/>
                </a:solidFill>
                <a:latin typeface="Cambria" pitchFamily="18" charset="0"/>
              </a:rPr>
            </a:br>
            <a:r>
              <a:rPr lang="uz-Cyrl-UZ" altLang="zh-CN" sz="2000" b="1" dirty="0" smtClean="0">
                <a:solidFill>
                  <a:schemeClr val="bg1"/>
                </a:solidFill>
                <a:latin typeface="Cambria" pitchFamily="18" charset="0"/>
              </a:rPr>
              <a:t>та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12" name="Прямоугольник 111"/>
          <p:cNvSpPr/>
          <p:nvPr/>
        </p:nvSpPr>
        <p:spPr>
          <a:xfrm>
            <a:off x="1786450" y="760999"/>
            <a:ext cx="232952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z-Cyrl-UZ" altLang="zh-CN" sz="1200" dirty="0" smtClean="0">
                <a:solidFill>
                  <a:schemeClr val="bg1"/>
                </a:solidFill>
                <a:latin typeface="Cambria" pitchFamily="18" charset="0"/>
              </a:rPr>
              <a:t>Турдаги </a:t>
            </a:r>
            <a:r>
              <a:rPr lang="uz-Cyrl-UZ" altLang="zh-CN" sz="1400" b="1" dirty="0" smtClean="0">
                <a:solidFill>
                  <a:schemeClr val="bg1"/>
                </a:solidFill>
                <a:latin typeface="Cambria" pitchFamily="18" charset="0"/>
              </a:rPr>
              <a:t>Статистика дастуридаги  </a:t>
            </a:r>
            <a:endParaRPr lang="en-US" altLang="zh-CN" sz="1200" b="1" spc="-100" dirty="0">
              <a:solidFill>
                <a:schemeClr val="bg1"/>
              </a:solidFill>
              <a:latin typeface="Cambria" pitchFamily="18" charset="0"/>
            </a:endParaRPr>
          </a:p>
          <a:p>
            <a:r>
              <a:rPr lang="uz-Cyrl-UZ" altLang="zh-CN" sz="1200" dirty="0" smtClean="0">
                <a:solidFill>
                  <a:schemeClr val="bg1"/>
                </a:solidFill>
                <a:latin typeface="Cambria" pitchFamily="18" charset="0"/>
              </a:rPr>
              <a:t>кўрсаткичлар ижроси</a:t>
            </a:r>
            <a:endParaRPr lang="en-US" altLang="zh-CN" sz="1200" spc="-100" dirty="0">
              <a:solidFill>
                <a:schemeClr val="bg1"/>
              </a:solidFill>
              <a:latin typeface="Cambria" pitchFamily="18" charset="0"/>
            </a:endParaRPr>
          </a:p>
        </p:txBody>
      </p:sp>
      <p:grpSp>
        <p:nvGrpSpPr>
          <p:cNvPr id="113" name="Группа 112"/>
          <p:cNvGrpSpPr/>
          <p:nvPr/>
        </p:nvGrpSpPr>
        <p:grpSpPr>
          <a:xfrm>
            <a:off x="4411343" y="718256"/>
            <a:ext cx="3592474" cy="991479"/>
            <a:chOff x="890230" y="1586104"/>
            <a:chExt cx="3462029" cy="1082127"/>
          </a:xfrm>
        </p:grpSpPr>
        <p:sp>
          <p:nvSpPr>
            <p:cNvPr id="116" name="Скругленный прямоугольник 115"/>
            <p:cNvSpPr/>
            <p:nvPr/>
          </p:nvSpPr>
          <p:spPr>
            <a:xfrm>
              <a:off x="890230" y="1672771"/>
              <a:ext cx="3462029" cy="90198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88568" tIns="44284" rIns="88568" bIns="442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743" dirty="0"/>
            </a:p>
          </p:txBody>
        </p:sp>
        <p:sp>
          <p:nvSpPr>
            <p:cNvPr id="117" name="Скругленный прямоугольник 116"/>
            <p:cNvSpPr/>
            <p:nvPr/>
          </p:nvSpPr>
          <p:spPr>
            <a:xfrm>
              <a:off x="1109976" y="1586104"/>
              <a:ext cx="767363" cy="108212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18" name="Прямоугольник 117"/>
          <p:cNvSpPr/>
          <p:nvPr/>
        </p:nvSpPr>
        <p:spPr>
          <a:xfrm>
            <a:off x="4725635" y="820034"/>
            <a:ext cx="4555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z-Cyrl-UZ" altLang="zh-CN" sz="2000" b="1" dirty="0" smtClean="0">
                <a:solidFill>
                  <a:schemeClr val="bg1"/>
                </a:solidFill>
                <a:latin typeface="Cambria" pitchFamily="18" charset="0"/>
              </a:rPr>
              <a:t> 3</a:t>
            </a:r>
            <a:br>
              <a:rPr lang="uz-Cyrl-UZ" altLang="zh-CN" sz="2000" b="1" dirty="0" smtClean="0">
                <a:solidFill>
                  <a:schemeClr val="bg1"/>
                </a:solidFill>
                <a:latin typeface="Cambria" pitchFamily="18" charset="0"/>
              </a:rPr>
            </a:br>
            <a:r>
              <a:rPr lang="uz-Cyrl-UZ" altLang="zh-CN" sz="2000" b="1" dirty="0" smtClean="0">
                <a:solidFill>
                  <a:schemeClr val="bg1"/>
                </a:solidFill>
                <a:latin typeface="Cambria" pitchFamily="18" charset="0"/>
              </a:rPr>
              <a:t>та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19" name="Прямоугольник 118"/>
          <p:cNvSpPr/>
          <p:nvPr/>
        </p:nvSpPr>
        <p:spPr>
          <a:xfrm>
            <a:off x="5757594" y="853224"/>
            <a:ext cx="224929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z-Cyrl-UZ" altLang="zh-CN" sz="1400" spc="-100" dirty="0" smtClean="0">
                <a:solidFill>
                  <a:schemeClr val="bg1"/>
                </a:solidFill>
                <a:latin typeface="Cambria" pitchFamily="18" charset="0"/>
              </a:rPr>
              <a:t>Идоравий </a:t>
            </a:r>
            <a:r>
              <a:rPr lang="uz-Cyrl-UZ" altLang="zh-CN" sz="1400" b="1" spc="-100" dirty="0" smtClean="0">
                <a:solidFill>
                  <a:schemeClr val="bg1"/>
                </a:solidFill>
                <a:latin typeface="Cambria" pitchFamily="18" charset="0"/>
              </a:rPr>
              <a:t>аҳборот </a:t>
            </a:r>
            <a:br>
              <a:rPr lang="uz-Cyrl-UZ" altLang="zh-CN" sz="1400" b="1" spc="-100" dirty="0" smtClean="0">
                <a:solidFill>
                  <a:schemeClr val="bg1"/>
                </a:solidFill>
                <a:latin typeface="Cambria" pitchFamily="18" charset="0"/>
              </a:rPr>
            </a:br>
            <a:r>
              <a:rPr lang="uz-Cyrl-UZ" altLang="zh-CN" sz="1400" b="1" spc="-100" dirty="0" smtClean="0">
                <a:solidFill>
                  <a:schemeClr val="bg1"/>
                </a:solidFill>
                <a:latin typeface="Cambria" pitchFamily="18" charset="0"/>
              </a:rPr>
              <a:t>алмашинуви йўлга </a:t>
            </a:r>
            <a:br>
              <a:rPr lang="uz-Cyrl-UZ" altLang="zh-CN" sz="1400" b="1" spc="-100" dirty="0" smtClean="0">
                <a:solidFill>
                  <a:schemeClr val="bg1"/>
                </a:solidFill>
                <a:latin typeface="Cambria" pitchFamily="18" charset="0"/>
              </a:rPr>
            </a:br>
            <a:r>
              <a:rPr lang="uz-Cyrl-UZ" altLang="zh-CN" sz="1400" b="1" spc="-100" dirty="0" smtClean="0">
                <a:solidFill>
                  <a:schemeClr val="bg1"/>
                </a:solidFill>
                <a:latin typeface="Cambria" pitchFamily="18" charset="0"/>
              </a:rPr>
              <a:t>қўйилади</a:t>
            </a:r>
            <a:endParaRPr lang="ru-RU" sz="1400" b="1" dirty="0">
              <a:solidFill>
                <a:schemeClr val="bg1"/>
              </a:solidFill>
            </a:endParaRPr>
          </a:p>
        </p:txBody>
      </p:sp>
      <p:sp>
        <p:nvSpPr>
          <p:cNvPr id="122" name="Блок-схема: знак завершения 121"/>
          <p:cNvSpPr/>
          <p:nvPr/>
        </p:nvSpPr>
        <p:spPr>
          <a:xfrm>
            <a:off x="4399417" y="3604213"/>
            <a:ext cx="3467317" cy="809845"/>
          </a:xfrm>
          <a:prstGeom prst="flowChartTerminato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3" name="Блок-схема: знак завершения 122"/>
          <p:cNvSpPr/>
          <p:nvPr/>
        </p:nvSpPr>
        <p:spPr>
          <a:xfrm>
            <a:off x="5092093" y="3241374"/>
            <a:ext cx="2447439" cy="44677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0248" tIns="60124" rIns="120248" bIns="601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uz-Cyrl-UZ" sz="12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Қурилиш уй-жой комунал </a:t>
            </a:r>
            <a:r>
              <a:rPr lang="uz-Cyrl-UZ" sz="1200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вазирлиги</a:t>
            </a:r>
            <a:endParaRPr lang="uz-Cyrl-UZ" sz="1200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5" name="Прямоугольник 124"/>
          <p:cNvSpPr/>
          <p:nvPr/>
        </p:nvSpPr>
        <p:spPr>
          <a:xfrm>
            <a:off x="5591053" y="1978899"/>
            <a:ext cx="15061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2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Кадастр </a:t>
            </a:r>
            <a:r>
              <a:rPr lang="uz-Cyrl-UZ" sz="1200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агентлиги</a:t>
            </a:r>
            <a:endParaRPr lang="uz-Cyrl-UZ" sz="1200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6" name="Прямоугольник 125"/>
          <p:cNvSpPr/>
          <p:nvPr/>
        </p:nvSpPr>
        <p:spPr>
          <a:xfrm>
            <a:off x="5371977" y="3661527"/>
            <a:ext cx="2228649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1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Қурилиш машина-механизмлар тўғрисидаги маълумотлар </a:t>
            </a:r>
            <a:endParaRPr lang="uz-Cyrl-UZ" sz="11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7" name="Блок-схема: знак завершения 126"/>
          <p:cNvSpPr/>
          <p:nvPr/>
        </p:nvSpPr>
        <p:spPr>
          <a:xfrm>
            <a:off x="4433182" y="4984980"/>
            <a:ext cx="3469580" cy="717964"/>
          </a:xfrm>
          <a:prstGeom prst="flowChartTerminato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8" name="Блок-схема: знак завершения 127"/>
          <p:cNvSpPr/>
          <p:nvPr/>
        </p:nvSpPr>
        <p:spPr>
          <a:xfrm>
            <a:off x="5035332" y="4685986"/>
            <a:ext cx="2447439" cy="39151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0248" tIns="60124" rIns="120248" bIns="601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uz-Cyrl-UZ" sz="1200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Қурилиш уй-жой комунал вазирлиги</a:t>
            </a:r>
          </a:p>
        </p:txBody>
      </p:sp>
      <p:sp>
        <p:nvSpPr>
          <p:cNvPr id="129" name="Прямоугольник 128"/>
          <p:cNvSpPr/>
          <p:nvPr/>
        </p:nvSpPr>
        <p:spPr>
          <a:xfrm>
            <a:off x="5177041" y="4984980"/>
            <a:ext cx="22286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0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Юридик шахслар бўйича </a:t>
            </a:r>
            <a:r>
              <a:rPr lang="uz-Cyrl-UZ" sz="10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турар </a:t>
            </a:r>
            <a:r>
              <a:rPr lang="uz-Cyrl-UZ" sz="10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жойлар ва нотурар бинолар тўғрисидаги маълумотлар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602" y="3756730"/>
            <a:ext cx="553541" cy="563931"/>
          </a:xfrm>
          <a:prstGeom prst="rect">
            <a:avLst/>
          </a:prstGeom>
        </p:spPr>
      </p:pic>
      <p:pic>
        <p:nvPicPr>
          <p:cNvPr id="130" name="Рисунок 129"/>
          <p:cNvPicPr>
            <a:picLocks noChangeAspect="1"/>
          </p:cNvPicPr>
          <p:nvPr/>
        </p:nvPicPr>
        <p:blipFill>
          <a:blip r:embed="rId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48" y="5942027"/>
            <a:ext cx="1091261" cy="600194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3826965" y="6139979"/>
            <a:ext cx="1744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solidFill>
                  <a:schemeClr val="bg1"/>
                </a:solidFill>
                <a:latin typeface="Sitka Heading" panose="02000505000000020004" pitchFamily="2" charset="0"/>
                <a:cs typeface="Times New Roman" panose="02020603050405020304" pitchFamily="18" charset="0"/>
              </a:rPr>
              <a:t>siat.stat.uz</a:t>
            </a:r>
            <a:endParaRPr lang="en-US" sz="2400" b="1" i="1" dirty="0">
              <a:solidFill>
                <a:schemeClr val="bg1"/>
              </a:solidFill>
              <a:latin typeface="Sitka Heading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48" name="Блок-схема: знак завершения 47"/>
          <p:cNvSpPr/>
          <p:nvPr/>
        </p:nvSpPr>
        <p:spPr>
          <a:xfrm>
            <a:off x="8924423" y="2332464"/>
            <a:ext cx="3071609" cy="758861"/>
          </a:xfrm>
          <a:prstGeom prst="flowChartTerminato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Блок-схема: знак завершения 48"/>
          <p:cNvSpPr/>
          <p:nvPr/>
        </p:nvSpPr>
        <p:spPr>
          <a:xfrm>
            <a:off x="9207936" y="1948525"/>
            <a:ext cx="2493439" cy="44677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0248" tIns="60124" rIns="120248" bIns="601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367"/>
          </a:p>
        </p:txBody>
      </p:sp>
      <p:sp>
        <p:nvSpPr>
          <p:cNvPr id="50" name="Прямоугольник 49"/>
          <p:cNvSpPr/>
          <p:nvPr/>
        </p:nvSpPr>
        <p:spPr>
          <a:xfrm>
            <a:off x="9312764" y="2294590"/>
            <a:ext cx="234999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1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Сотиш учун мўлжалланган обеъктларда қурилиш фаолияти бўйича маълумот олинди </a:t>
            </a:r>
            <a:endParaRPr lang="uz-Cyrl-UZ" sz="11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Блок-схема: знак завершения 52"/>
          <p:cNvSpPr/>
          <p:nvPr/>
        </p:nvSpPr>
        <p:spPr>
          <a:xfrm>
            <a:off x="9091148" y="3736163"/>
            <a:ext cx="2929524" cy="717964"/>
          </a:xfrm>
          <a:prstGeom prst="flowChartTerminato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Блок-схема: знак завершения 53"/>
          <p:cNvSpPr/>
          <p:nvPr/>
        </p:nvSpPr>
        <p:spPr>
          <a:xfrm>
            <a:off x="9318691" y="3340555"/>
            <a:ext cx="2415848" cy="401223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0248" tIns="60124" rIns="120248" bIns="601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367"/>
          </a:p>
        </p:txBody>
      </p:sp>
      <p:sp>
        <p:nvSpPr>
          <p:cNvPr id="55" name="Прямоугольник 54"/>
          <p:cNvSpPr/>
          <p:nvPr/>
        </p:nvSpPr>
        <p:spPr>
          <a:xfrm>
            <a:off x="9330816" y="3813009"/>
            <a:ext cx="26304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sz="12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Якка тартибдаги турар жойларда кузатув ташкил қилинади </a:t>
            </a:r>
            <a:endParaRPr lang="uz-Cyrl-UZ" sz="12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Прямоугольник 57"/>
          <p:cNvSpPr/>
          <p:nvPr/>
        </p:nvSpPr>
        <p:spPr>
          <a:xfrm>
            <a:off x="10046968" y="3327791"/>
            <a:ext cx="9348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z-Cyrl-UZ" sz="16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1993 та</a:t>
            </a:r>
            <a:endParaRPr lang="uz-Cyrl-UZ" sz="16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Прямоугольник 60"/>
          <p:cNvSpPr/>
          <p:nvPr/>
        </p:nvSpPr>
        <p:spPr>
          <a:xfrm>
            <a:off x="5026858" y="2270342"/>
            <a:ext cx="2592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0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жисмоний </a:t>
            </a:r>
            <a:r>
              <a:rPr lang="uz-Cyrl-UZ" sz="10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шахслар бўйича турар жойлар ва нотурар бинолар тўғрисидаги маълумотлар</a:t>
            </a:r>
          </a:p>
        </p:txBody>
      </p:sp>
      <p:sp>
        <p:nvSpPr>
          <p:cNvPr id="62" name="Прямоугольник 61"/>
          <p:cNvSpPr/>
          <p:nvPr/>
        </p:nvSpPr>
        <p:spPr>
          <a:xfrm>
            <a:off x="9968661" y="2002236"/>
            <a:ext cx="8130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z-Cyrl-UZ" sz="16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232 та</a:t>
            </a:r>
            <a:endParaRPr lang="uz-Cyrl-UZ" sz="16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Блок-схема: знак завершения 63"/>
          <p:cNvSpPr/>
          <p:nvPr/>
        </p:nvSpPr>
        <p:spPr>
          <a:xfrm>
            <a:off x="443484" y="2299584"/>
            <a:ext cx="3342881" cy="756534"/>
          </a:xfrm>
          <a:prstGeom prst="flowChartTerminato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Блок-схема: знак завершения 64"/>
          <p:cNvSpPr/>
          <p:nvPr/>
        </p:nvSpPr>
        <p:spPr>
          <a:xfrm>
            <a:off x="906865" y="1959860"/>
            <a:ext cx="2447439" cy="40161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0248" tIns="60124" rIns="120248" bIns="601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367"/>
          </a:p>
        </p:txBody>
      </p:sp>
      <p:sp>
        <p:nvSpPr>
          <p:cNvPr id="66" name="Прямоугольник 65"/>
          <p:cNvSpPr/>
          <p:nvPr/>
        </p:nvSpPr>
        <p:spPr>
          <a:xfrm>
            <a:off x="1920607" y="1973947"/>
            <a:ext cx="5693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z-Cyrl-UZ" sz="16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 та</a:t>
            </a:r>
            <a:endParaRPr lang="uz-Cyrl-UZ" sz="16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Прямоугольник 66"/>
          <p:cNvSpPr/>
          <p:nvPr/>
        </p:nvSpPr>
        <p:spPr>
          <a:xfrm>
            <a:off x="1082343" y="2351319"/>
            <a:ext cx="222864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sz="11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Ойлик Статистик кўрсаткичлар бўйича якуний жадваллар шакллантирилади.</a:t>
            </a:r>
            <a:endParaRPr lang="uz-Cyrl-UZ" sz="11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Блок-схема: знак завершения 67"/>
          <p:cNvSpPr/>
          <p:nvPr/>
        </p:nvSpPr>
        <p:spPr>
          <a:xfrm>
            <a:off x="406847" y="3666345"/>
            <a:ext cx="3296105" cy="760741"/>
          </a:xfrm>
          <a:prstGeom prst="flowChartTerminato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Блок-схема: знак завершения 68"/>
          <p:cNvSpPr/>
          <p:nvPr/>
        </p:nvSpPr>
        <p:spPr>
          <a:xfrm>
            <a:off x="860741" y="3337505"/>
            <a:ext cx="2447439" cy="398658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0248" tIns="60124" rIns="120248" bIns="601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367"/>
          </a:p>
        </p:txBody>
      </p:sp>
      <p:sp>
        <p:nvSpPr>
          <p:cNvPr id="70" name="Блок-схема: знак завершения 69"/>
          <p:cNvSpPr/>
          <p:nvPr/>
        </p:nvSpPr>
        <p:spPr>
          <a:xfrm>
            <a:off x="406847" y="4973813"/>
            <a:ext cx="3298490" cy="818946"/>
          </a:xfrm>
          <a:prstGeom prst="flowChartTerminato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Прямоугольник 70"/>
          <p:cNvSpPr/>
          <p:nvPr/>
        </p:nvSpPr>
        <p:spPr>
          <a:xfrm>
            <a:off x="1861136" y="3359644"/>
            <a:ext cx="5693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z-Cyrl-UZ" sz="16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r>
              <a:rPr lang="uz-Cyrl-UZ" sz="16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та</a:t>
            </a:r>
            <a:endParaRPr lang="uz-Cyrl-UZ" sz="16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Блок-схема: знак завершения 71"/>
          <p:cNvSpPr/>
          <p:nvPr/>
        </p:nvSpPr>
        <p:spPr>
          <a:xfrm>
            <a:off x="812570" y="4637220"/>
            <a:ext cx="2447439" cy="44677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0248" tIns="60124" rIns="120248" bIns="601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367"/>
          </a:p>
        </p:txBody>
      </p:sp>
      <p:sp>
        <p:nvSpPr>
          <p:cNvPr id="73" name="Прямоугольник 72"/>
          <p:cNvSpPr/>
          <p:nvPr/>
        </p:nvSpPr>
        <p:spPr>
          <a:xfrm>
            <a:off x="1727890" y="4646768"/>
            <a:ext cx="6912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z-Cyrl-UZ" sz="16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 та</a:t>
            </a:r>
            <a:endParaRPr lang="uz-Cyrl-UZ" sz="16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4" name="Прямоугольник 73"/>
          <p:cNvSpPr/>
          <p:nvPr/>
        </p:nvSpPr>
        <p:spPr>
          <a:xfrm>
            <a:off x="1062139" y="3661527"/>
            <a:ext cx="238342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1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Ч</a:t>
            </a:r>
            <a:r>
              <a:rPr lang="uz-Cyrl-UZ" sz="11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ораклик Статистик кўрсаткичлар бўйича бюллетень шакллантирилади.</a:t>
            </a:r>
            <a:endParaRPr lang="uz-Cyrl-UZ" sz="11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5" name="Прямоугольник 74"/>
          <p:cNvSpPr/>
          <p:nvPr/>
        </p:nvSpPr>
        <p:spPr>
          <a:xfrm>
            <a:off x="775439" y="5042965"/>
            <a:ext cx="2740783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uz-Cyrl-UZ" sz="11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Йиллик Статистик </a:t>
            </a:r>
            <a:r>
              <a:rPr lang="uz-Cyrl-UZ" sz="1100" b="1" dirty="0" smtClean="0">
                <a:solidFill>
                  <a:schemeClr val="accent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кўрсаткичлар бўйича бюллетенлар ва статистик тўпламлар шакллантирилади</a:t>
            </a:r>
            <a:r>
              <a:rPr lang="uz-Cyrl-UZ" sz="1100" b="1" dirty="0" smtClean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uz-Cyrl-UZ" sz="1100" b="1" dirty="0">
              <a:solidFill>
                <a:schemeClr val="bg1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028" y="2024061"/>
            <a:ext cx="2085117" cy="208511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219" y="3256429"/>
            <a:ext cx="1930926" cy="211964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8" y="4726584"/>
            <a:ext cx="1404389" cy="1456850"/>
          </a:xfrm>
          <a:prstGeom prst="rect">
            <a:avLst/>
          </a:prstGeom>
        </p:spPr>
      </p:pic>
      <p:cxnSp>
        <p:nvCxnSpPr>
          <p:cNvPr id="88" name="Straight Connector 318">
            <a:extLst>
              <a:ext uri="{FF2B5EF4-FFF2-40B4-BE49-F238E27FC236}">
                <a16:creationId xmlns:a16="http://schemas.microsoft.com/office/drawing/2014/main" id="{96F6807F-F6ED-68EF-A450-8717C846405F}"/>
              </a:ext>
            </a:extLst>
          </p:cNvPr>
          <p:cNvCxnSpPr>
            <a:cxnSpLocks/>
          </p:cNvCxnSpPr>
          <p:nvPr/>
        </p:nvCxnSpPr>
        <p:spPr>
          <a:xfrm>
            <a:off x="3962600" y="652476"/>
            <a:ext cx="29777" cy="5029854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dash"/>
          </a:ln>
          <a:effectLst/>
        </p:spPr>
      </p:cxnSp>
      <p:cxnSp>
        <p:nvCxnSpPr>
          <p:cNvPr id="121" name="Straight Connector 318">
            <a:extLst>
              <a:ext uri="{FF2B5EF4-FFF2-40B4-BE49-F238E27FC236}">
                <a16:creationId xmlns:a16="http://schemas.microsoft.com/office/drawing/2014/main" id="{96F6807F-F6ED-68EF-A450-8717C846405F}"/>
              </a:ext>
            </a:extLst>
          </p:cNvPr>
          <p:cNvCxnSpPr>
            <a:cxnSpLocks/>
          </p:cNvCxnSpPr>
          <p:nvPr/>
        </p:nvCxnSpPr>
        <p:spPr>
          <a:xfrm>
            <a:off x="8338079" y="709227"/>
            <a:ext cx="29777" cy="5029854"/>
          </a:xfrm>
          <a:prstGeom prst="line">
            <a:avLst/>
          </a:prstGeom>
          <a:noFill/>
          <a:ln w="28575" cap="flat" cmpd="sng" algn="ctr">
            <a:solidFill>
              <a:schemeClr val="accent1">
                <a:lumMod val="75000"/>
              </a:schemeClr>
            </a:solidFill>
            <a:prstDash val="dash"/>
          </a:ln>
          <a:effectLst/>
        </p:spPr>
      </p:cxnSp>
      <p:sp>
        <p:nvSpPr>
          <p:cNvPr id="15" name="Стрелка вниз 14"/>
          <p:cNvSpPr/>
          <p:nvPr/>
        </p:nvSpPr>
        <p:spPr>
          <a:xfrm>
            <a:off x="10188874" y="1666028"/>
            <a:ext cx="451985" cy="240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2" name="Стрелка вниз 131"/>
          <p:cNvSpPr/>
          <p:nvPr/>
        </p:nvSpPr>
        <p:spPr>
          <a:xfrm>
            <a:off x="10215973" y="3137285"/>
            <a:ext cx="451985" cy="1737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4" name="Стрелка вниз 133"/>
          <p:cNvSpPr/>
          <p:nvPr/>
        </p:nvSpPr>
        <p:spPr>
          <a:xfrm>
            <a:off x="5898322" y="1652247"/>
            <a:ext cx="436886" cy="2413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5" name="Стрелка вниз 134"/>
          <p:cNvSpPr/>
          <p:nvPr/>
        </p:nvSpPr>
        <p:spPr>
          <a:xfrm>
            <a:off x="5959296" y="3005257"/>
            <a:ext cx="451985" cy="2081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6" name="Стрелка вниз 135"/>
          <p:cNvSpPr/>
          <p:nvPr/>
        </p:nvSpPr>
        <p:spPr>
          <a:xfrm>
            <a:off x="5987100" y="4460533"/>
            <a:ext cx="451985" cy="177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7" name="Стрелка вниз 136"/>
          <p:cNvSpPr/>
          <p:nvPr/>
        </p:nvSpPr>
        <p:spPr>
          <a:xfrm>
            <a:off x="1970676" y="1686665"/>
            <a:ext cx="451985" cy="2306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8" name="Стрелка вниз 137"/>
          <p:cNvSpPr/>
          <p:nvPr/>
        </p:nvSpPr>
        <p:spPr>
          <a:xfrm>
            <a:off x="1947632" y="3104975"/>
            <a:ext cx="451985" cy="2081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9" name="Стрелка вниз 138"/>
          <p:cNvSpPr/>
          <p:nvPr/>
        </p:nvSpPr>
        <p:spPr>
          <a:xfrm>
            <a:off x="1931349" y="4419933"/>
            <a:ext cx="451985" cy="2019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1" name="Рисунок 140"/>
          <p:cNvPicPr/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00" t="15202" r="10298" b="18222"/>
          <a:stretch/>
        </p:blipFill>
        <p:spPr bwMode="auto">
          <a:xfrm>
            <a:off x="646409" y="2463396"/>
            <a:ext cx="374650" cy="3849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2" name="Рисунок 141"/>
          <p:cNvPicPr/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1" t="12063" r="14646" b="7110"/>
          <a:stretch/>
        </p:blipFill>
        <p:spPr bwMode="auto">
          <a:xfrm>
            <a:off x="527962" y="3813268"/>
            <a:ext cx="437515" cy="4681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Прямоугольник с двумя скругленными противолежащими углами 5"/>
          <p:cNvSpPr/>
          <p:nvPr/>
        </p:nvSpPr>
        <p:spPr>
          <a:xfrm>
            <a:off x="13399" y="820034"/>
            <a:ext cx="403200" cy="226800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</a:t>
            </a:r>
            <a:endParaRPr lang="ru-RU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6" name="Прямоугольник с двумя скругленными противолежащими углами 85"/>
          <p:cNvSpPr/>
          <p:nvPr/>
        </p:nvSpPr>
        <p:spPr>
          <a:xfrm>
            <a:off x="4005165" y="862945"/>
            <a:ext cx="403200" cy="226800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/>
              <a:t>II</a:t>
            </a:r>
            <a:endParaRPr lang="ru-RU" dirty="0"/>
          </a:p>
        </p:txBody>
      </p:sp>
      <p:sp>
        <p:nvSpPr>
          <p:cNvPr id="87" name="Прямоугольник с двумя скругленными противолежащими углами 86"/>
          <p:cNvSpPr/>
          <p:nvPr/>
        </p:nvSpPr>
        <p:spPr>
          <a:xfrm>
            <a:off x="8416907" y="904322"/>
            <a:ext cx="402357" cy="228026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Latn-UZ" dirty="0" smtClean="0"/>
              <a:t>III</a:t>
            </a:r>
            <a:endParaRPr lang="ru-RU" dirty="0"/>
          </a:p>
        </p:txBody>
      </p:sp>
      <p:cxnSp>
        <p:nvCxnSpPr>
          <p:cNvPr id="91" name="Прямая соединительная линия 90"/>
          <p:cNvCxnSpPr/>
          <p:nvPr/>
        </p:nvCxnSpPr>
        <p:spPr>
          <a:xfrm>
            <a:off x="11396749" y="0"/>
            <a:ext cx="0" cy="565839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Прямоугольник 91"/>
          <p:cNvSpPr/>
          <p:nvPr/>
        </p:nvSpPr>
        <p:spPr>
          <a:xfrm>
            <a:off x="11544536" y="173921"/>
            <a:ext cx="578562" cy="276225"/>
          </a:xfrm>
          <a:prstGeom prst="rect">
            <a:avLst/>
          </a:prstGeom>
          <a:solidFill>
            <a:srgbClr val="2D50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3" name="Рисунок 8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797" y="5057437"/>
            <a:ext cx="553541" cy="56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927610"/>
      </p:ext>
    </p:extLst>
  </p:cSld>
  <p:clrMapOvr>
    <a:masterClrMapping/>
  </p:clrMapOvr>
  <p:transition>
    <p:cover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15023</TotalTime>
  <Words>1451</Words>
  <Application>Microsoft Office PowerPoint</Application>
  <PresentationFormat>Широкоэкранный</PresentationFormat>
  <Paragraphs>501</Paragraphs>
  <Slides>12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7" baseType="lpstr">
      <vt:lpstr>宋体</vt:lpstr>
      <vt:lpstr>Arial</vt:lpstr>
      <vt:lpstr>Arial Black</vt:lpstr>
      <vt:lpstr>Calibri</vt:lpstr>
      <vt:lpstr>Calibri Light</vt:lpstr>
      <vt:lpstr>Cambria</vt:lpstr>
      <vt:lpstr>Cambria Math</vt:lpstr>
      <vt:lpstr>等线</vt:lpstr>
      <vt:lpstr>Dotum</vt:lpstr>
      <vt:lpstr>Nunito Light</vt:lpstr>
      <vt:lpstr>Open Sans</vt:lpstr>
      <vt:lpstr>Roboto Black</vt:lpstr>
      <vt:lpstr>Sitka Heading</vt:lpstr>
      <vt:lpstr>Times New Roman</vt:lpstr>
      <vt:lpstr>Тема Office</vt:lpstr>
      <vt:lpstr>Инвестициялар ва қурилиш статистика бошқармаси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Зияев З.</dc:creator>
  <cp:lastModifiedBy>m.jomolov</cp:lastModifiedBy>
  <cp:revision>1644</cp:revision>
  <cp:lastPrinted>2025-02-25T10:29:54Z</cp:lastPrinted>
  <dcterms:created xsi:type="dcterms:W3CDTF">2019-08-01T06:27:54Z</dcterms:created>
  <dcterms:modified xsi:type="dcterms:W3CDTF">2025-02-25T12:55:57Z</dcterms:modified>
</cp:coreProperties>
</file>